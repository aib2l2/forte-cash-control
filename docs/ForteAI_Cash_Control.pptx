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c5f40c6afb45d9" /><Relationship Type="http://schemas.openxmlformats.org/officeDocument/2006/relationships/extended-properties" Target="/docProps/app.xml" Id="Re2e733b2472f4e25" /><Relationship Type="http://schemas.openxmlformats.org/officeDocument/2006/relationships/officeDocument" Target="/ppt/presentation.xml" Id="Rf6d2023f9dfa4d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e5cd4dc2b8428a"/>
  </p:sldMasterIdLst>
  <p:notesMasterIdLst>
    <p:notesMasterId xmlns:r="http://schemas.openxmlformats.org/officeDocument/2006/relationships" r:id="R0d513ecd860b4203"/>
  </p:notesMasterIdLst>
  <p:sldIdLst>
    <p:sldId xmlns:r="http://schemas.openxmlformats.org/officeDocument/2006/relationships" id="256" r:id="Rc9b7769cfc614431"/>
    <p:sldId xmlns:r="http://schemas.openxmlformats.org/officeDocument/2006/relationships" id="257" r:id="Rabf1c59053394f9a"/>
    <p:sldId xmlns:r="http://schemas.openxmlformats.org/officeDocument/2006/relationships" id="258" r:id="Rab3e8b95174a4690"/>
    <p:sldId xmlns:r="http://schemas.openxmlformats.org/officeDocument/2006/relationships" id="259" r:id="R27b584e72d254ee2"/>
    <p:sldId xmlns:r="http://schemas.openxmlformats.org/officeDocument/2006/relationships" id="260" r:id="Rb9fd950ed83c4c0e"/>
    <p:sldId xmlns:r="http://schemas.openxmlformats.org/officeDocument/2006/relationships" id="261" r:id="Rda3d47633b124366"/>
    <p:sldId xmlns:r="http://schemas.openxmlformats.org/officeDocument/2006/relationships" id="262" r:id="R229a0fe1349f481e"/>
    <p:sldId xmlns:r="http://schemas.openxmlformats.org/officeDocument/2006/relationships" id="263" r:id="R04a1b72ff70a426b"/>
    <p:sldId xmlns:r="http://schemas.openxmlformats.org/officeDocument/2006/relationships" id="264" r:id="Rc235cb140a3249f3"/>
    <p:sldId xmlns:r="http://schemas.openxmlformats.org/officeDocument/2006/relationships" id="265" r:id="Ra301c6915dc04d19"/>
    <p:sldId xmlns:r="http://schemas.openxmlformats.org/officeDocument/2006/relationships" id="266" r:id="Re922c8150afe48ca"/>
    <p:sldId xmlns:r="http://schemas.openxmlformats.org/officeDocument/2006/relationships" id="267" r:id="Refaee25ade8346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cc3531861949dc" /><Relationship Type="http://schemas.openxmlformats.org/officeDocument/2006/relationships/slideMaster" Target="/ppt/slideMasters/slideMaster1.xml" Id="Reee5cd4dc2b8428a" /><Relationship Type="http://schemas.openxmlformats.org/officeDocument/2006/relationships/notesMaster" Target="/ppt/notesMasters/notesMaster1.xml" Id="R0d513ecd860b4203" /><Relationship Type="http://schemas.openxmlformats.org/officeDocument/2006/relationships/presProps" Target="/ppt/presProps.xml" Id="Rb82583be8c69471a" /><Relationship Type="http://schemas.openxmlformats.org/officeDocument/2006/relationships/tableStyles" Target="/ppt/tableStyles.xml" Id="Re61f6945f60e4de5" /><Relationship Type="http://schemas.openxmlformats.org/officeDocument/2006/relationships/slide" Target="/ppt/slides/slide1.xml" Id="Rc9b7769cfc614431" /><Relationship Type="http://schemas.openxmlformats.org/officeDocument/2006/relationships/slide" Target="/ppt/slides/slide2.xml" Id="Rabf1c59053394f9a" /><Relationship Type="http://schemas.openxmlformats.org/officeDocument/2006/relationships/slide" Target="/ppt/slides/slide3.xml" Id="Rab3e8b95174a4690" /><Relationship Type="http://schemas.openxmlformats.org/officeDocument/2006/relationships/slide" Target="/ppt/slides/slide4.xml" Id="R27b584e72d254ee2" /><Relationship Type="http://schemas.openxmlformats.org/officeDocument/2006/relationships/slide" Target="/ppt/slides/slide5.xml" Id="Rb9fd950ed83c4c0e" /><Relationship Type="http://schemas.openxmlformats.org/officeDocument/2006/relationships/slide" Target="/ppt/slides/slide6.xml" Id="Rda3d47633b124366" /><Relationship Type="http://schemas.openxmlformats.org/officeDocument/2006/relationships/slide" Target="/ppt/slides/slide7.xml" Id="R229a0fe1349f481e" /><Relationship Type="http://schemas.openxmlformats.org/officeDocument/2006/relationships/slide" Target="/ppt/slides/slide8.xml" Id="R04a1b72ff70a426b" /><Relationship Type="http://schemas.openxmlformats.org/officeDocument/2006/relationships/slide" Target="/ppt/slides/slide9.xml" Id="Rc235cb140a3249f3" /><Relationship Type="http://schemas.openxmlformats.org/officeDocument/2006/relationships/slide" Target="/ppt/slides/slide10.xml" Id="Ra301c6915dc04d19" /><Relationship Type="http://schemas.openxmlformats.org/officeDocument/2006/relationships/slide" Target="/ppt/slides/slide11.xml" Id="Re922c8150afe48ca" /><Relationship Type="http://schemas.openxmlformats.org/officeDocument/2006/relationships/slide" Target="/ppt/slides/slide12.xml" Id="Refaee25ade8346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dd2f9e1da14a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a4ab64281a40e2" /><Relationship Type="http://schemas.openxmlformats.org/officeDocument/2006/relationships/notesMaster" Target="/ppt/notesMasters/notesMaster1.xml" Id="R4b7cce2e969b45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ff5b92caa14186" /><Relationship Type="http://schemas.openxmlformats.org/officeDocument/2006/relationships/notesMaster" Target="/ppt/notesMasters/notesMaster1.xml" Id="R0f5f2010a19742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cbbc2f2327451a" /><Relationship Type="http://schemas.openxmlformats.org/officeDocument/2006/relationships/notesMaster" Target="/ppt/notesMasters/notesMaster1.xml" Id="R6f8192916afb44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c7502740764fdf" /><Relationship Type="http://schemas.openxmlformats.org/officeDocument/2006/relationships/notesMaster" Target="/ppt/notesMasters/notesMaster1.xml" Id="R249bee65fb7c40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be67dda77b4ba4" /><Relationship Type="http://schemas.openxmlformats.org/officeDocument/2006/relationships/notesMaster" Target="/ppt/notesMasters/notesMaster1.xml" Id="Rf421d571d3694d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f38c4f0d644bce" /><Relationship Type="http://schemas.openxmlformats.org/officeDocument/2006/relationships/notesMaster" Target="/ppt/notesMasters/notesMaster1.xml" Id="R506c70b898ed48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4ea4482c3b45c6" /><Relationship Type="http://schemas.openxmlformats.org/officeDocument/2006/relationships/notesMaster" Target="/ppt/notesMasters/notesMaster1.xml" Id="R0b237ffbc0104c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4c3921f0d14fa4" /><Relationship Type="http://schemas.openxmlformats.org/officeDocument/2006/relationships/notesMaster" Target="/ppt/notesMasters/notesMaster1.xml" Id="R115ac31d0ef145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574af7f5804c7b" /><Relationship Type="http://schemas.openxmlformats.org/officeDocument/2006/relationships/notesMaster" Target="/ppt/notesMasters/notesMaster1.xml" Id="Rde53e396dc2c45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c308e80ac1456d" /><Relationship Type="http://schemas.openxmlformats.org/officeDocument/2006/relationships/notesMaster" Target="/ppt/notesMasters/notesMaster1.xml" Id="R1f2b9de4b37b44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73b6bb8e734d43" /><Relationship Type="http://schemas.openxmlformats.org/officeDocument/2006/relationships/notesMaster" Target="/ppt/notesMasters/notesMaster1.xml" Id="R259194f1b1eb4c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a692212dc74b1f" /><Relationship Type="http://schemas.openxmlformats.org/officeDocument/2006/relationships/notesMaster" Target="/ppt/notesMasters/notesMaster1.xml" Id="R42c29f19beaf4a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ForteAI Cash Control помогает команде контроля работать с кассовыми видеозаписями. Сервис выделяет фрагменты для проверки и собирает таймкоды, реальные кадры и пояснения в одном результате. Сегодня показываем рабочую демонстрационную версию, в которой решение остаётся у специалиста.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cash_ml/app.py</a:t>
            </a:r>
          </a:p>
          <a:p xmlns:a="http://schemas.openxmlformats.org/drawingml/2006/main">
            <a:r>
              <a:t>cash_ml/service.py</a:t>
            </a:r>
          </a:p>
          <a:p xmlns:a="http://schemas.openxmlformats.org/drawingml/2006/main">
            <a:r>
              <a:t>https://bank.forte.kz/ru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кейсе банка ручной просмотр видео занимает время. Проверяющему нужно найти эпизод и восстановить контекст. Ценность нашего сервиса в том, что результат уже содержит указатель на фрагмент и материал для разбора. Денежный эффект и сокращение времени в процентах мы не заявляем.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outputs/case_review/word_document.xml.txt</a:t>
            </a:r>
          </a:p>
          <a:p xmlns:a="http://schemas.openxmlformats.org/drawingml/2006/main">
            <a:r>
              <a:t>cash_ml/service.py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реальный экран текущего приложения, а не макет. Пользователь загружает MOV и запускает анализ. Очередь обрабатывает видео, а интерфейс автоматически показывает результат. Для работы не требуется запускать код. Исходные банковские кадры в презентации не используются.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cash_ml/app.py</a:t>
            </a:r>
          </a:p>
          <a:p xmlns:a="http://schemas.openxmlformats.org/drawingml/2006/main">
            <a:r>
              <a:t>outputs/design_forte/verification.json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Каждое срабатывание содержит тип, временную отметку, описание гипотезы и от одного до трёх настоящих кадров из загруженного файла. Описание подсказывает, что нужно проверить, и приводит нормативную справку там, где она предусмотрена реестром. Оно не заменяет наблюдение специалиста и не утверждает невидимых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cash_ml/service.py</a:t>
            </a:r>
          </a:p>
          <a:p xmlns:a="http://schemas.openxmlformats.org/drawingml/2006/main">
            <a:r>
              <a:t>cash_ml/evidence.py</a:t>
            </a:r>
          </a:p>
          <a:p xmlns:a="http://schemas.openxmlformats.org/drawingml/2006/main">
            <a:r>
              <a:t>cash_ml/rules.py</a:t>
            </a:r>
          </a:p>
          <a:p xmlns:a="http://schemas.openxmlformats.org/drawingml/2006/main">
            <a:r>
              <a:t>backend/schemas.py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 использует строгий список из актуальной разметки. Группы на слайде служат удобству объяснения и не меняют API. Это поддерживаемые категории гипотез, а не подтверждение качества каждой категории. Полномочия человека нельзя определять по внешности. Точные значения: cash_left_unattended, cash_taken_before_verification, customer_cash_mixing, incorrect_cash_handover, overlapping_customer_transactions, cash_area_door_left_open, safe_left_open, safe_key_left_in_lock, unauthorized_person_in_cash_area, personal_items_in_work_area, unclassified_violation.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cash_ml/forte_ui.py</a:t>
            </a:r>
          </a:p>
          <a:p xmlns:a="http://schemas.openxmlformats.org/drawingml/2006/main">
            <a:r>
              <a:t>models/cash_r3d/typed_report.json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Модели выполняются внутри развёрнутого сервиса. После загрузки весов анализ не требует облачных AI API. Работа без сетевого доступа была проверена. Видео, кадры и описания не передаются облачным моделям. Временный HTTPS-туннель служит сетевым транспортом и не является облачным AI-вычислением. Презентация не утверждает, что система уже развёрнута во внутреннем контуре банка.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cash_ml/features.py</a:t>
            </a:r>
          </a:p>
          <a:p xmlns:a="http://schemas.openxmlformats.org/drawingml/2006/main">
            <a:r>
              <a:t>cash_ml/service.py</a:t>
            </a:r>
          </a:p>
          <a:p xmlns:a="http://schemas.openxmlformats.org/drawingml/2006/main">
            <a:r>
              <a:t>outputs/case_review/execution_report.txt</a:t>
            </a:r>
          </a:p>
          <a:p xmlns:a="http://schemas.openxmlformats.org/drawingml/2006/main">
            <a:r>
              <a:t>deploy/temporary_public.py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продукта два способа доступа. Оператор использует веб-интерфейс, а интеграционная система отправляет MOV через API и получает job_id. Затем она опрашивает статус и получает JSON с событиями. Мы предоставляем готовый программный интерфейс, но не заявляем уже выполненную интеграцию с внутренними системами банка.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cash_ml/api.py</a:t>
            </a:r>
          </a:p>
          <a:p xmlns:a="http://schemas.openxmlformats.org/drawingml/2006/main">
            <a:r>
              <a:t>backend/schemas.py</a:t>
            </a:r>
          </a:p>
          <a:p xmlns:a="http://schemas.openxmlformats.org/drawingml/2006/main">
            <a:r>
              <a:t>cash_ml/app.py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приложении действительно подключена typed_v2. Предобученная R3D-18 Kinetics-400 извлекает визуальные признаки. Обученные линейные классификаторы формируют оценку подозрительности и тип события. Сервис объединяет соседние срабатывания одного типа и достаёт кадры по реальным координатам. Имена файлов, Excel и тексты описаний не подаются в качестве признаков нового видео.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cash_ml/features.py</a:t>
            </a:r>
          </a:p>
          <a:p xmlns:a="http://schemas.openxmlformats.org/drawingml/2006/main">
            <a:r>
              <a:t>cash_ml/service.py</a:t>
            </a:r>
          </a:p>
          <a:p xmlns:a="http://schemas.openxmlformats.org/drawingml/2006/main">
            <a:r>
              <a:t>models/cash_r3d/typed_report.json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продукте сохранены очередь задач, авторизация, ограничения формата и размера, обработка ошибок и внутренний deadline 290 секунд с учётом очереди. Ошибка или тайм-аут возвращают failed. Реальные кадры и допустимые типы проверены техническими тестами. Эти проверки относятся к работоспособности сервиса, а не к гарантии точности классификации.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backend/jobs.py</a:t>
            </a:r>
          </a:p>
          <a:p xmlns:a="http://schemas.openxmlformats.org/drawingml/2006/main">
            <a:r>
              <a:t>cash_ml/api.py</a:t>
            </a:r>
          </a:p>
          <a:p xmlns:a="http://schemas.openxmlformats.org/drawingml/2006/main">
            <a:r>
              <a:t>backend/schemas.py</a:t>
            </a:r>
          </a:p>
          <a:p xmlns:a="http://schemas.openxmlformats.org/drawingml/2006/main">
            <a:r>
              <a:t>outputs/design_forte/public_verification.json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проверяющего ценность в собранном материале: тип события, время, изображения и подсказка для проверки. Руководитель получает единый формат отчёта. ИТ-команда получает локальный сервис и документированный API. Это доступные свойства решения, а не измеренное обещание сокращения затрат. Истинность срабатывания всегда подтверждается по записи.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cash_ml/service.py</a:t>
            </a:r>
          </a:p>
          <a:p xmlns:a="http://schemas.openxmlformats.org/drawingml/2006/main">
            <a:r>
              <a:t>cash_ml/app.py</a:t>
            </a:r>
          </a:p>
          <a:p xmlns:a="http://schemas.openxmlformats.org/drawingml/2006/main">
            <a:r>
              <a:t>backend/schemas.py</a:t>
            </a:r>
          </a:p>
          <a:p xmlns:a="http://schemas.openxmlformats.org/drawingml/2006/main">
            <a:r>
              <a:t>cash_ml/api.py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Текущая версия предоставляет полный пользовательский сценарий: загрузка MOV, локальный анализ и просмотр результата. Интерфейс адаптирован к телефону, планшету и компьютеру. Версия демонстрационная. Подтверждённой оценки качества на новых независимых записях нет, поэтому промышленное использование требует пилота, согласования критериев качества, правил и инфраструктуры. Актуальный адрес временного демо указан в разделе README для жюри. Доступ зависит от включённого компьютера команды и действующего туннеля.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cash_ml/app.py</a:t>
            </a:r>
          </a:p>
          <a:p xmlns:a="http://schemas.openxmlformats.org/drawingml/2006/main">
            <a:r>
              <a:t>outputs/design_forte/verification.json</a:t>
            </a:r>
          </a:p>
          <a:p xmlns:a="http://schemas.openxmlformats.org/drawingml/2006/main">
            <a:r>
              <a:t>models/cash_r3d/typed_report.json</a:t>
            </a:r>
          </a:p>
          <a:p xmlns:a="http://schemas.openxmlformats.org/drawingml/2006/main">
            <a:r>
              <a:t>deploy/temporary_public.py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 показать текущий сервис на выбранной заказчиком записи в формате MOV. Кнопка открывает раздел README с актуальным адресом демонстрации. Интерфейс и API требуют отдельных учётных данных, переданных жюри в форме заявки. Демо работает через временный туннель с компьютера команды. Для постоянного доступа требуется выделенный сервер. Версия приложения 1.0.1, активная модель typed_v2. Источник: https://github.com/aib2l2/forte-cash-control#demo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15515788546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a3f99d5c249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abc8aee244e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823bb67034d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0604426d846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de228bea943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C88D50-F6F7-4711-B315-2CC7664AA5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359DEB-01CA-4CE5-B457-ADAC2C89DC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913C3B-F3AF-487A-BB2A-B2E7FAEB54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C3B21A-D112-40B0-A858-259581B3A3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F855A3-3CCA-4ABE-9361-040C9D489B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C786BE-3854-4621-817C-B27453860D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D93B21-BC5E-447A-94DA-A25CC29FF3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2B0567A-89B1-41BD-AC69-E98BC82840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62C5E4-EAE6-4429-B6FB-B953E5A034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438C2C-1BDD-4164-A942-2A385AD2E1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acb372b4414a76" /><Relationship Type="http://schemas.openxmlformats.org/officeDocument/2006/relationships/slideLayout" Target="/ppt/slideLayouts/slideLayout1.xml" Id="R06ec1752fef64bad" /><Relationship Type="http://schemas.openxmlformats.org/officeDocument/2006/relationships/slideLayout" Target="/ppt/slideLayouts/slideLayout2.xml" Id="R52746c661a3c4d09" /><Relationship Type="http://schemas.openxmlformats.org/officeDocument/2006/relationships/slideLayout" Target="/ppt/slideLayouts/slideLayout3.xml" Id="R6161b74abfe24a7c" /><Relationship Type="http://schemas.openxmlformats.org/officeDocument/2006/relationships/slideLayout" Target="/ppt/slideLayouts/slideLayout4.xml" Id="Re185069ec8c04e1c" /><Relationship Type="http://schemas.openxmlformats.org/officeDocument/2006/relationships/slideLayout" Target="/ppt/slideLayouts/slideLayout5.xml" Id="R3cef2c7e163448e6" /><Relationship Type="http://schemas.openxmlformats.org/officeDocument/2006/relationships/slideLayout" Target="/ppt/slideLayouts/slideLayout6.xml" Id="R025111c357944f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ec1752fef64bad"/>
    <p:sldLayoutId xmlns:r="http://schemas.openxmlformats.org/officeDocument/2006/relationships" id="2147483650" r:id="R52746c661a3c4d09"/>
    <p:sldLayoutId xmlns:r="http://schemas.openxmlformats.org/officeDocument/2006/relationships" id="2147483651" r:id="R6161b74abfe24a7c"/>
    <p:sldLayoutId xmlns:r="http://schemas.openxmlformats.org/officeDocument/2006/relationships" id="2147483652" r:id="Re185069ec8c04e1c"/>
    <p:sldLayoutId xmlns:r="http://schemas.openxmlformats.org/officeDocument/2006/relationships" id="2147483653" r:id="R3cef2c7e163448e6"/>
    <p:sldLayoutId xmlns:r="http://schemas.openxmlformats.org/officeDocument/2006/relationships" id="2147483654" r:id="R025111c357944f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74ce95a354a28" /><Relationship Type="http://schemas.openxmlformats.org/officeDocument/2006/relationships/image" Target="/ppt/media/image.png" Id="R678129823f1e40ed" /><Relationship Type="http://schemas.openxmlformats.org/officeDocument/2006/relationships/image" Target="/ppt/media/image.svg" Id="Rd66709ba52aa4e62" /><Relationship Type="http://schemas.openxmlformats.org/officeDocument/2006/relationships/notesSlide" Target="/ppt/notesSlides/notesSlide1.xml" Id="R9f1844547f8446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26327985b640ce" /><Relationship Type="http://schemas.openxmlformats.org/officeDocument/2006/relationships/notesSlide" Target="/ppt/notesSlides/notesSlide2.xml" Id="Rdc61cbedf71e4d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22aa66075f4569" /><Relationship Type="http://schemas.openxmlformats.org/officeDocument/2006/relationships/image" Target="/ppt/media/image2.png" Id="R43c82a29b19c4f99" /><Relationship Type="http://schemas.openxmlformats.org/officeDocument/2006/relationships/notesSlide" Target="/ppt/notesSlides/notesSlide3.xml" Id="R6585ba1a1c7f42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a73da5a59c4ef9" /><Relationship Type="http://schemas.openxmlformats.org/officeDocument/2006/relationships/notesSlide" Target="/ppt/notesSlides/notesSlide4.xml" Id="Rba2263ed48d541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badb85a7e4a40" /><Relationship Type="http://schemas.openxmlformats.org/officeDocument/2006/relationships/notesSlide" Target="/ppt/notesSlides/notesSlide5.xml" Id="R26fdafd03b7144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8c64fd76da4e2d" /><Relationship Type="http://schemas.openxmlformats.org/officeDocument/2006/relationships/notesSlide" Target="/ppt/notesSlides/notesSlide6.xml" Id="Rbd11734272bf49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d53529a934d7c" /><Relationship Type="http://schemas.openxmlformats.org/officeDocument/2006/relationships/notesSlide" Target="/ppt/notesSlides/notesSlide7.xml" Id="R77ccd53c30394b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45692d577c4e2c" /><Relationship Type="http://schemas.openxmlformats.org/officeDocument/2006/relationships/notesSlide" Target="/ppt/notesSlides/notesSlide8.xml" Id="R14118995730847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1666cea48f4e38" /><Relationship Type="http://schemas.openxmlformats.org/officeDocument/2006/relationships/notesSlide" Target="/ppt/notesSlides/notesSlide9.xml" Id="R0dd6645c106840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148f9947743bb" /><Relationship Type="http://schemas.openxmlformats.org/officeDocument/2006/relationships/notesSlide" Target="/ppt/notesSlides/notesSlide10.xml" Id="Rc0d41a302f4946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4525f45e004c96" /><Relationship Type="http://schemas.openxmlformats.org/officeDocument/2006/relationships/image" Target="/ppt/media/image3.png" Id="R1b300582bc6a4552" /><Relationship Type="http://schemas.openxmlformats.org/officeDocument/2006/relationships/notesSlide" Target="/ppt/notesSlides/notesSlide11.xml" Id="Ra06275d36c8240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ef6bf929254f6d" /><Relationship Type="http://schemas.openxmlformats.org/officeDocument/2006/relationships/hyperlink" Target="https://github.com/aib2l2/forte-cash-control#demo" TargetMode="External" Id="Rd65a6361ec374104" /><Relationship Type="http://schemas.openxmlformats.org/officeDocument/2006/relationships/notesSlide" Target="/ppt/notesSlides/notesSlide12.xml" Id="R923a6329fca74a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6C5D4F44-D5FE-4A07-8CCF-B5F6B261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1003B-1B75-4097-8DBE-ABA0F0B8DF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129823f1e40ed">
            <a:extLst>
              <a:ext uri="{96DAC541-7B7A-43D3-8B79-37D633B846F1}">
                <asvg:svgBlip xmlns:asvg="http://schemas.microsoft.com/office/drawing/2016/SVG/main" r:embed="Rd66709ba52aa4e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95300"/>
            <a:ext cx="15240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ForteAI">
            <a:extLst xmlns:a="http://schemas.openxmlformats.org/drawingml/2006/main">
              <a:ext uri="{FF2B5EF4-FFF2-40B4-BE49-F238E27FC236}">
                <a16:creationId xmlns:a16="http://schemas.microsoft.com/office/drawing/2014/main" id="{8B38847C-3227-4B1D-B92E-94E7F89E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76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ForteAI</a:t>
            </a:r>
          </a:p>
        </p:txBody>
      </p:sp>
      <p:sp>
        <p:nvSpPr>
          <p:cNvPr id="4" name="Cash Control">
            <a:extLst xmlns:a="http://schemas.openxmlformats.org/drawingml/2006/main">
              <a:ext uri="{FF2B5EF4-FFF2-40B4-BE49-F238E27FC236}">
                <a16:creationId xmlns:a16="http://schemas.microsoft.com/office/drawing/2014/main" id="{5BBAFE80-723D-495E-B5D9-732132C8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0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575" b="0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575" b="0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575" b="0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575" b="0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575" b="0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575" b="0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575" b="0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575" b="0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575" b="0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575" b="0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A31551"/>
                </a:solidFill>
                <a:latin typeface="Arial"/>
                <a:ea typeface="Arial"/>
                <a:cs typeface="Arial"/>
              </a:rPr>
              <a:t>Cash Control</a:t>
            </a:r>
          </a:p>
        </p:txBody>
      </p:sp>
      <p:sp>
        <p:nvSpPr>
          <p:cNvPr id="5" name="Фрагменты кассовых операций&#10;для проверки в одном отчёте">
            <a:extLst xmlns:a="http://schemas.openxmlformats.org/drawingml/2006/main">
              <a:ext uri="{FF2B5EF4-FFF2-40B4-BE49-F238E27FC236}">
                <a16:creationId xmlns:a16="http://schemas.microsoft.com/office/drawing/2014/main" id="{E82862BC-6392-4683-AA02-0E33E244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810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0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Фрагменты кассовых операций</a:t>
            </a:r>
          </a:p>
          <a:p xmlns:a="http://schemas.openxmlformats.org/drawingml/2006/main">
            <a:pPr algn="l">
              <a:buNone/>
              <a:defRPr sz="30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для проверки в одном отчёте</a:t>
            </a:r>
          </a:p>
        </p:txBody>
      </p:sp>
      <p:sp>
        <p:nvSpPr>
          <p:cNvPr id="6" name="Локальная видеоаналитика для команды контроля">
            <a:extLst xmlns:a="http://schemas.openxmlformats.org/drawingml/2006/main">
              <a:ext uri="{FF2B5EF4-FFF2-40B4-BE49-F238E27FC236}">
                <a16:creationId xmlns:a16="http://schemas.microsoft.com/office/drawing/2014/main" id="{5FDDE2BC-8A00-4DEA-905D-572EC3A0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8647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Локальная видеоаналитика для команды контроля</a:t>
            </a:r>
          </a:p>
        </p:txBody>
      </p:sp>
    </p:spTree>
    <p:extLst>
      <p:ext uri="{BB962C8B-B14F-4D97-AF65-F5344CB8AC3E}">
        <p14:creationId xmlns:p14="http://schemas.microsoft.com/office/powerpoint/2010/main" val="714671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оверка начинается с нужного момента">
            <a:extLst xmlns:a="http://schemas.openxmlformats.org/drawingml/2006/main">
              <a:ext uri="{FF2B5EF4-FFF2-40B4-BE49-F238E27FC236}">
                <a16:creationId xmlns:a16="http://schemas.microsoft.com/office/drawing/2014/main" id="{F8A33043-1B42-4CE4-B68C-084057F5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Проверка начинается с нужного момента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448DF633-8F00-4BF5-8A64-8FABC39C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Где искать событие&#10;в полной записи?">
            <a:extLst xmlns:a="http://schemas.openxmlformats.org/drawingml/2006/main">
              <a:ext uri="{FF2B5EF4-FFF2-40B4-BE49-F238E27FC236}">
                <a16:creationId xmlns:a16="http://schemas.microsoft.com/office/drawing/2014/main" id="{B95D919F-1B6C-492E-BB45-70A6FC5C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8108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Где искать событие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в полной записи?</a:t>
            </a:r>
          </a:p>
        </p:txBody>
      </p:sp>
      <p:sp>
        <p:nvSpPr>
          <p:cNvPr id="4" name="Сегодняшняя задача">
            <a:extLst xmlns:a="http://schemas.openxmlformats.org/drawingml/2006/main">
              <a:ext uri="{FF2B5EF4-FFF2-40B4-BE49-F238E27FC236}">
                <a16:creationId xmlns:a16="http://schemas.microsoft.com/office/drawing/2014/main" id="{9E75F8D5-509B-41AF-9073-F4BAA77F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Сегодняшняя задача</a:t>
            </a:r>
          </a:p>
        </p:txBody>
      </p:sp>
      <p:sp>
        <p:nvSpPr>
          <p:cNvPr id="5" name="Найти нужный момент и разобраться, что происходило на видео.">
            <a:extLst xmlns:a="http://schemas.openxmlformats.org/drawingml/2006/main">
              <a:ext uri="{FF2B5EF4-FFF2-40B4-BE49-F238E27FC236}">
                <a16:creationId xmlns:a16="http://schemas.microsoft.com/office/drawing/2014/main" id="{6CBBBAF1-B66B-41ED-AD73-3834E87E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Найти нужный момент и разобраться, что происходило на видео.</a:t>
            </a:r>
          </a:p>
        </p:txBody>
      </p:sp>
      <p:sp>
        <p:nvSpPr>
          <p:cNvPr id="6" name="Предложение ForteAI">
            <a:extLst xmlns:a="http://schemas.openxmlformats.org/drawingml/2006/main">
              <a:ext uri="{FF2B5EF4-FFF2-40B4-BE49-F238E27FC236}">
                <a16:creationId xmlns:a16="http://schemas.microsoft.com/office/drawing/2014/main" id="{7C9CFA1C-3968-4848-AB4A-0C3A55A5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Предложение ForteAI</a:t>
            </a:r>
          </a:p>
        </p:txBody>
      </p:sp>
      <p:sp>
        <p:nvSpPr>
          <p:cNvPr id="7" name="Получить список фрагментов с кадрами и таймкодами для проверки.">
            <a:extLst xmlns:a="http://schemas.openxmlformats.org/drawingml/2006/main">
              <a:ext uri="{FF2B5EF4-FFF2-40B4-BE49-F238E27FC236}">
                <a16:creationId xmlns:a16="http://schemas.microsoft.com/office/drawing/2014/main" id="{68F24609-6169-44D7-AA82-3444F205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00600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Получить список фрагментов с кадрами и таймкодами для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460574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оверка видео в понятном интерфейсе">
            <a:extLst xmlns:a="http://schemas.openxmlformats.org/drawingml/2006/main">
              <a:ext uri="{FF2B5EF4-FFF2-40B4-BE49-F238E27FC236}">
                <a16:creationId xmlns:a16="http://schemas.microsoft.com/office/drawing/2014/main" id="{29E837FC-1E8C-4C3A-9AEE-3B3057C1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Проверка видео в понятном интерфейсе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F10B615B-2758-4F76-9527-F6978FE8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.MOV">
            <a:extLst xmlns:a="http://schemas.openxmlformats.org/drawingml/2006/main">
              <a:ext uri="{FF2B5EF4-FFF2-40B4-BE49-F238E27FC236}">
                <a16:creationId xmlns:a16="http://schemas.microsoft.com/office/drawing/2014/main" id="{59F3C471-1F02-40DD-B5C8-C3308DD3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.MOV</a:t>
            </a:r>
          </a:p>
        </p:txBody>
      </p:sp>
      <p:sp>
        <p:nvSpPr>
          <p:cNvPr id="4" name="Одна загрузка&#10;запускает проверку">
            <a:extLst xmlns:a="http://schemas.openxmlformats.org/drawingml/2006/main">
              <a:ext uri="{FF2B5EF4-FFF2-40B4-BE49-F238E27FC236}">
                <a16:creationId xmlns:a16="http://schemas.microsoft.com/office/drawing/2014/main" id="{70269772-DBA1-446D-9101-47EE22E3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381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Одна загрузка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запускает проверку</a:t>
            </a:r>
          </a:p>
        </p:txBody>
      </p:sp>
      <p:sp>
        <p:nvSpPr>
          <p:cNvPr id="5" name="Статус обработки&#10;и готовый отчёт&#10;в том же окне">
            <a:extLst xmlns:a="http://schemas.openxmlformats.org/drawingml/2006/main">
              <a:ext uri="{FF2B5EF4-FFF2-40B4-BE49-F238E27FC236}">
                <a16:creationId xmlns:a16="http://schemas.microsoft.com/office/drawing/2014/main" id="{3E22B8FC-ECC0-4CCE-ACFE-A703E83A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Статус обработки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и готовый отчёт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в том же окне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CFD44-9F12-4B1B-BE26-4291FE4082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82a29b19c4f99"/>
          <a:stretch xmlns:a="http://schemas.openxmlformats.org/drawingml/2006/main"/>
        </p:blipFill>
        <p:spPr>
          <a:xfrm xmlns:a="http://schemas.openxmlformats.org/drawingml/2006/main">
            <a:off x="4417505" y="1476375"/>
            <a:ext cx="7214616" cy="5010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153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Результат, который можно проверить по записи">
            <a:extLst xmlns:a="http://schemas.openxmlformats.org/drawingml/2006/main">
              <a:ext uri="{FF2B5EF4-FFF2-40B4-BE49-F238E27FC236}">
                <a16:creationId xmlns:a16="http://schemas.microsoft.com/office/drawing/2014/main" id="{81396CDB-0D05-432C-B180-928F4EF1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Результат, который можно проверить по записи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4C1E100C-E5A8-4136-95D3-65F1563D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1–3">
            <a:extLst xmlns:a="http://schemas.openxmlformats.org/drawingml/2006/main">
              <a:ext uri="{FF2B5EF4-FFF2-40B4-BE49-F238E27FC236}">
                <a16:creationId xmlns:a16="http://schemas.microsoft.com/office/drawing/2014/main" id="{B0A8FE11-AD03-4C16-8485-BA6FD8FB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4095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3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3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3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3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3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3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3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3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3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3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3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735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1–3</a:t>
            </a:r>
          </a:p>
        </p:txBody>
      </p:sp>
      <p:sp>
        <p:nvSpPr>
          <p:cNvPr id="4" name="реальных кадра&#10;на каждое событие">
            <a:extLst xmlns:a="http://schemas.openxmlformats.org/drawingml/2006/main">
              <a:ext uri="{FF2B5EF4-FFF2-40B4-BE49-F238E27FC236}">
                <a16:creationId xmlns:a16="http://schemas.microsoft.com/office/drawing/2014/main" id="{A59A0C44-39FF-406F-A26B-90D8EA84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524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реальных кадра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на каждое событие</a:t>
            </a:r>
          </a:p>
        </p:txBody>
      </p:sp>
      <p:sp>
        <p:nvSpPr>
          <p:cNvPr id="5" name="Таймкод">
            <a:extLst xmlns:a="http://schemas.openxmlformats.org/drawingml/2006/main">
              <a:ext uri="{FF2B5EF4-FFF2-40B4-BE49-F238E27FC236}">
                <a16:creationId xmlns:a16="http://schemas.microsoft.com/office/drawing/2014/main" id="{8780C63A-E567-4070-BEA0-26DDED1F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621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Таймкод</a:t>
            </a:r>
          </a:p>
        </p:txBody>
      </p:sp>
      <p:sp>
        <p:nvSpPr>
          <p:cNvPr id="6" name="Момент в загруженной записи">
            <a:extLst xmlns:a="http://schemas.openxmlformats.org/drawingml/2006/main">
              <a:ext uri="{FF2B5EF4-FFF2-40B4-BE49-F238E27FC236}">
                <a16:creationId xmlns:a16="http://schemas.microsoft.com/office/drawing/2014/main" id="{CD1F16F7-F68E-43BC-A19F-64FA3DA7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19325"/>
            <a:ext cx="5286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Момент в загруженной записи</a:t>
            </a:r>
          </a:p>
        </p:txBody>
      </p:sp>
      <p:sp>
        <p:nvSpPr>
          <p:cNvPr id="7" name="Тип события">
            <a:extLst xmlns:a="http://schemas.openxmlformats.org/drawingml/2006/main">
              <a:ext uri="{FF2B5EF4-FFF2-40B4-BE49-F238E27FC236}">
                <a16:creationId xmlns:a16="http://schemas.microsoft.com/office/drawing/2014/main" id="{C601E3B2-ABA6-41B3-A430-EB223FF5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43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Тип события</a:t>
            </a:r>
          </a:p>
        </p:txBody>
      </p:sp>
      <p:sp>
        <p:nvSpPr>
          <p:cNvPr id="8" name="Единый словарь для отчёта">
            <a:extLst xmlns:a="http://schemas.openxmlformats.org/drawingml/2006/main">
              <a:ext uri="{FF2B5EF4-FFF2-40B4-BE49-F238E27FC236}">
                <a16:creationId xmlns:a16="http://schemas.microsoft.com/office/drawing/2014/main" id="{924E7C8E-B64B-4001-BD17-410180C7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00400"/>
            <a:ext cx="5286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Единый словарь для отчёта</a:t>
            </a:r>
          </a:p>
        </p:txBody>
      </p:sp>
      <p:sp>
        <p:nvSpPr>
          <p:cNvPr id="9" name="Пояснение">
            <a:extLst xmlns:a="http://schemas.openxmlformats.org/drawingml/2006/main">
              <a:ext uri="{FF2B5EF4-FFF2-40B4-BE49-F238E27FC236}">
                <a16:creationId xmlns:a16="http://schemas.microsoft.com/office/drawing/2014/main" id="{5435F100-E1E2-447A-9133-E414BDCB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2427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Пояснение</a:t>
            </a:r>
          </a:p>
        </p:txBody>
      </p:sp>
      <p:sp>
        <p:nvSpPr>
          <p:cNvPr id="10" name="Что проверить по видео">
            <a:extLst xmlns:a="http://schemas.openxmlformats.org/drawingml/2006/main">
              <a:ext uri="{FF2B5EF4-FFF2-40B4-BE49-F238E27FC236}">
                <a16:creationId xmlns:a16="http://schemas.microsoft.com/office/drawing/2014/main" id="{E7B3D1ED-0A72-40DA-9619-4C055B0F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81475"/>
            <a:ext cx="5286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Что проверить по видео</a:t>
            </a:r>
          </a:p>
        </p:txBody>
      </p:sp>
      <p:sp>
        <p:nvSpPr>
          <p:cNvPr id="11" name="Справка">
            <a:extLst xmlns:a="http://schemas.openxmlformats.org/drawingml/2006/main">
              <a:ext uri="{FF2B5EF4-FFF2-40B4-BE49-F238E27FC236}">
                <a16:creationId xmlns:a16="http://schemas.microsoft.com/office/drawing/2014/main" id="{27901B18-BBDD-4EE3-9B4E-A2E392CE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7053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Справка</a:t>
            </a:r>
          </a:p>
        </p:txBody>
      </p:sp>
      <p:sp>
        <p:nvSpPr>
          <p:cNvPr id="12" name="Связь с правилом, где она установлена">
            <a:extLst xmlns:a="http://schemas.openxmlformats.org/drawingml/2006/main">
              <a:ext uri="{FF2B5EF4-FFF2-40B4-BE49-F238E27FC236}">
                <a16:creationId xmlns:a16="http://schemas.microsoft.com/office/drawing/2014/main" id="{6B5CF743-F20A-42F8-816E-E9163F60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62550"/>
            <a:ext cx="5286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Связь с правилом, где она установлена</a:t>
            </a:r>
          </a:p>
        </p:txBody>
      </p:sp>
      <p:sp>
        <p:nvSpPr>
          <p:cNvPr id="13" name="Вывод модели служит подсказкой. Фактические действия и применимость но">
            <a:extLst xmlns:a="http://schemas.openxmlformats.org/drawingml/2006/main">
              <a:ext uri="{FF2B5EF4-FFF2-40B4-BE49-F238E27FC236}">
                <a16:creationId xmlns:a16="http://schemas.microsoft.com/office/drawing/2014/main" id="{C67B95E4-A484-4AEC-8CAF-B630C46F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Вывод модели служит подсказкой. Фактические действия и применимость нормы проверяет оператор.</a:t>
            </a:r>
          </a:p>
        </p:txBody>
      </p:sp>
    </p:spTree>
    <p:extLst>
      <p:ext uri="{BB962C8B-B14F-4D97-AF65-F5344CB8AC3E}">
        <p14:creationId xmlns:p14="http://schemas.microsoft.com/office/powerpoint/2010/main" val="708343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11 типов для проверки кассовой дисциплины">
            <a:extLst xmlns:a="http://schemas.openxmlformats.org/drawingml/2006/main">
              <a:ext uri="{FF2B5EF4-FFF2-40B4-BE49-F238E27FC236}">
                <a16:creationId xmlns:a16="http://schemas.microsoft.com/office/drawing/2014/main" id="{8633FAB0-CE73-48AD-8616-D0DECEAA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11 типов для проверки кассовой дисциплины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7A0E6650-D65F-496E-A3B1-4879DD7C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Работа с деньгами">
            <a:extLst xmlns:a="http://schemas.openxmlformats.org/drawingml/2006/main">
              <a:ext uri="{FF2B5EF4-FFF2-40B4-BE49-F238E27FC236}">
                <a16:creationId xmlns:a16="http://schemas.microsoft.com/office/drawing/2014/main" id="{7252BB83-B495-46A4-8818-83EFE982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Работа с деньгами</a:t>
            </a:r>
          </a:p>
        </p:txBody>
      </p:sp>
      <p:sp>
        <p:nvSpPr>
          <p:cNvPr id="4" name="Деньги без присмотра">
            <a:extLst xmlns:a="http://schemas.openxmlformats.org/drawingml/2006/main">
              <a:ext uri="{FF2B5EF4-FFF2-40B4-BE49-F238E27FC236}">
                <a16:creationId xmlns:a16="http://schemas.microsoft.com/office/drawing/2014/main" id="{567AC76B-8306-450E-9721-B48D6B0A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338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Деньги без присмотра</a:t>
            </a:r>
          </a:p>
        </p:txBody>
      </p:sp>
      <p:sp>
        <p:nvSpPr>
          <p:cNvPr id="5" name="Приём до проверки">
            <a:extLst xmlns:a="http://schemas.openxmlformats.org/drawingml/2006/main">
              <a:ext uri="{FF2B5EF4-FFF2-40B4-BE49-F238E27FC236}">
                <a16:creationId xmlns:a16="http://schemas.microsoft.com/office/drawing/2014/main" id="{F2451606-6D61-4DE9-9875-3416A113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38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Приём до проверки</a:t>
            </a:r>
          </a:p>
        </p:txBody>
      </p:sp>
      <p:sp>
        <p:nvSpPr>
          <p:cNvPr id="6" name="Смешивание денег">
            <a:extLst xmlns:a="http://schemas.openxmlformats.org/drawingml/2006/main">
              <a:ext uri="{FF2B5EF4-FFF2-40B4-BE49-F238E27FC236}">
                <a16:creationId xmlns:a16="http://schemas.microsoft.com/office/drawing/2014/main" id="{B92368A0-6C3C-4F78-A28C-9A79FBBE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38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Смешивание денег</a:t>
            </a:r>
          </a:p>
        </p:txBody>
      </p:sp>
      <p:sp>
        <p:nvSpPr>
          <p:cNvPr id="7" name="Передача денег">
            <a:extLst xmlns:a="http://schemas.openxmlformats.org/drawingml/2006/main">
              <a:ext uri="{FF2B5EF4-FFF2-40B4-BE49-F238E27FC236}">
                <a16:creationId xmlns:a16="http://schemas.microsoft.com/office/drawing/2014/main" id="{1ABE8207-52B4-4BD3-86DB-064143FC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38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Передача денег</a:t>
            </a:r>
          </a:p>
        </p:txBody>
      </p:sp>
      <p:sp>
        <p:nvSpPr>
          <p:cNvPr id="8" name="Пересечение операций">
            <a:extLst xmlns:a="http://schemas.openxmlformats.org/drawingml/2006/main">
              <a:ext uri="{FF2B5EF4-FFF2-40B4-BE49-F238E27FC236}">
                <a16:creationId xmlns:a16="http://schemas.microsoft.com/office/drawing/2014/main" id="{3BF3D126-BB77-44AA-BBD3-4A727FEA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8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Пересечение операций</a:t>
            </a:r>
          </a:p>
        </p:txBody>
      </p:sp>
      <p:sp>
        <p:nvSpPr>
          <p:cNvPr id="9" name="Кассовая зона">
            <a:extLst xmlns:a="http://schemas.openxmlformats.org/drawingml/2006/main">
              <a:ext uri="{FF2B5EF4-FFF2-40B4-BE49-F238E27FC236}">
                <a16:creationId xmlns:a16="http://schemas.microsoft.com/office/drawing/2014/main" id="{D5E0B6B4-C569-4666-93B5-63209F77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383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Кассовая зона</a:t>
            </a:r>
          </a:p>
        </p:txBody>
      </p:sp>
      <p:sp>
        <p:nvSpPr>
          <p:cNvPr id="10" name="Открытая дверь">
            <a:extLst xmlns:a="http://schemas.openxmlformats.org/drawingml/2006/main">
              <a:ext uri="{FF2B5EF4-FFF2-40B4-BE49-F238E27FC236}">
                <a16:creationId xmlns:a16="http://schemas.microsoft.com/office/drawing/2014/main" id="{55E8D78B-815D-4ABA-8D1C-AB1379B0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38450"/>
            <a:ext cx="338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Открытая дверь</a:t>
            </a:r>
          </a:p>
        </p:txBody>
      </p:sp>
      <p:sp>
        <p:nvSpPr>
          <p:cNvPr id="11" name="Открытый сейф">
            <a:extLst xmlns:a="http://schemas.openxmlformats.org/drawingml/2006/main">
              <a:ext uri="{FF2B5EF4-FFF2-40B4-BE49-F238E27FC236}">
                <a16:creationId xmlns:a16="http://schemas.microsoft.com/office/drawing/2014/main" id="{BFF2DE25-F88B-4E9E-AE4A-AE774B3E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90900"/>
            <a:ext cx="338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Открытый сейф</a:t>
            </a:r>
          </a:p>
        </p:txBody>
      </p:sp>
      <p:sp>
        <p:nvSpPr>
          <p:cNvPr id="12" name="Ключ в замке">
            <a:extLst xmlns:a="http://schemas.openxmlformats.org/drawingml/2006/main">
              <a:ext uri="{FF2B5EF4-FFF2-40B4-BE49-F238E27FC236}">
                <a16:creationId xmlns:a16="http://schemas.microsoft.com/office/drawing/2014/main" id="{2039C4A7-F466-412A-9020-38180594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43350"/>
            <a:ext cx="338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Ключ в замке</a:t>
            </a:r>
          </a:p>
        </p:txBody>
      </p:sp>
      <p:sp>
        <p:nvSpPr>
          <p:cNvPr id="13" name="Доступ требует проверки">
            <a:extLst xmlns:a="http://schemas.openxmlformats.org/drawingml/2006/main">
              <a:ext uri="{FF2B5EF4-FFF2-40B4-BE49-F238E27FC236}">
                <a16:creationId xmlns:a16="http://schemas.microsoft.com/office/drawing/2014/main" id="{38E9BACC-3028-4F5B-A933-27D8A149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95800"/>
            <a:ext cx="338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Доступ требует проверки</a:t>
            </a:r>
          </a:p>
        </p:txBody>
      </p:sp>
      <p:sp>
        <p:nvSpPr>
          <p:cNvPr id="14" name="Другие события">
            <a:extLst xmlns:a="http://schemas.openxmlformats.org/drawingml/2006/main">
              <a:ext uri="{FF2B5EF4-FFF2-40B4-BE49-F238E27FC236}">
                <a16:creationId xmlns:a16="http://schemas.microsoft.com/office/drawing/2014/main" id="{2872B04B-AD61-479F-8D16-07356CA3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383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Другие события</a:t>
            </a:r>
          </a:p>
        </p:txBody>
      </p:sp>
      <p:sp>
        <p:nvSpPr>
          <p:cNvPr id="15" name="Личные вещи&#10;в рабочей зоне">
            <a:extLst xmlns:a="http://schemas.openxmlformats.org/drawingml/2006/main">
              <a:ext uri="{FF2B5EF4-FFF2-40B4-BE49-F238E27FC236}">
                <a16:creationId xmlns:a16="http://schemas.microsoft.com/office/drawing/2014/main" id="{0D215E0A-8EE0-4F8F-8D5D-E3547D27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38450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Личные вещи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в рабочей зоне</a:t>
            </a:r>
          </a:p>
        </p:txBody>
      </p:sp>
      <p:sp>
        <p:nvSpPr>
          <p:cNvPr id="16" name="Неклассифицированное&#10;нарушение">
            <a:extLst xmlns:a="http://schemas.openxmlformats.org/drawingml/2006/main">
              <a:ext uri="{FF2B5EF4-FFF2-40B4-BE49-F238E27FC236}">
                <a16:creationId xmlns:a16="http://schemas.microsoft.com/office/drawing/2014/main" id="{47625FE9-695F-4DE6-AC44-A7086D94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952875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Неклассифицированное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нарушение</a:t>
            </a:r>
          </a:p>
        </p:txBody>
      </p:sp>
      <p:sp>
        <p:nvSpPr>
          <p:cNvPr id="17" name="Один формат результата для всех категорий. Возможное нарушение подтвер">
            <a:extLst xmlns:a="http://schemas.openxmlformats.org/drawingml/2006/main">
              <a:ext uri="{FF2B5EF4-FFF2-40B4-BE49-F238E27FC236}">
                <a16:creationId xmlns:a16="http://schemas.microsoft.com/office/drawing/2014/main" id="{D511F758-B119-48D0-AB63-F1444772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Один формат результата для всех категорий. Возможное нарушение подтверждает проверяющий.</a:t>
            </a:r>
          </a:p>
        </p:txBody>
      </p:sp>
    </p:spTree>
    <p:extLst>
      <p:ext uri="{BB962C8B-B14F-4D97-AF65-F5344CB8AC3E}">
        <p14:creationId xmlns:p14="http://schemas.microsoft.com/office/powerpoint/2010/main" val="541158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4A0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Локальный AI без облачного анализа">
            <a:extLst xmlns:a="http://schemas.openxmlformats.org/drawingml/2006/main">
              <a:ext uri="{FF2B5EF4-FFF2-40B4-BE49-F238E27FC236}">
                <a16:creationId xmlns:a16="http://schemas.microsoft.com/office/drawing/2014/main" id="{C8E45889-2FA5-4EB7-A813-67BD099F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Локальный AI без облачного анализа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FAD09B06-B56E-4841-B5D1-F8943063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A8B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Вычисления&#10;внутри сервиса">
            <a:extLst xmlns:a="http://schemas.openxmlformats.org/drawingml/2006/main">
              <a:ext uri="{FF2B5EF4-FFF2-40B4-BE49-F238E27FC236}">
                <a16:creationId xmlns:a16="http://schemas.microsoft.com/office/drawing/2014/main" id="{EF7A122F-8EB2-4953-BCEC-DACA14FF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668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Вычисления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внутри сервиса</a:t>
            </a:r>
          </a:p>
        </p:txBody>
      </p:sp>
      <p:sp>
        <p:nvSpPr>
          <p:cNvPr id="4" name="Видео обрабатывает локальная модель.&#10;Передавать запись в облачные AI A">
            <a:extLst xmlns:a="http://schemas.openxmlformats.org/drawingml/2006/main">
              <a:ext uri="{FF2B5EF4-FFF2-40B4-BE49-F238E27FC236}">
                <a16:creationId xmlns:a16="http://schemas.microsoft.com/office/drawing/2014/main" id="{6E5FE4FB-8DD9-4387-87E1-B00574E8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10715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0E2E9"/>
                </a:solidFill>
                <a:latin typeface="Arial"/>
                <a:ea typeface="Arial"/>
                <a:cs typeface="Arial"/>
              </a:rPr>
              <a:t>Видео обрабатывает локальная модель.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0E2E9"/>
                </a:solidFill>
                <a:latin typeface="Arial"/>
                <a:ea typeface="Arial"/>
                <a:cs typeface="Arial"/>
              </a:rPr>
              <a:t>Передавать запись в облачные AI API не требуется.</a:t>
            </a:r>
          </a:p>
        </p:txBody>
      </p:sp>
      <p:sp>
        <p:nvSpPr>
          <p:cNvPr id="5" name="Визуальный анализ без использования звука и распознавания лиц.">
            <a:extLst xmlns:a="http://schemas.openxmlformats.org/drawingml/2006/main">
              <a:ext uri="{FF2B5EF4-FFF2-40B4-BE49-F238E27FC236}">
                <a16:creationId xmlns:a16="http://schemas.microsoft.com/office/drawing/2014/main" id="{C307B64E-F6D4-4B1D-A14E-7EBDEF4F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BFCD"/>
                </a:solidFill>
                <a:latin typeface="Arial"/>
                <a:ea typeface="Arial"/>
                <a:cs typeface="Arial"/>
              </a:rPr>
              <a:t>Визуальный анализ без использования звука и распознавания лиц.</a:t>
            </a:r>
          </a:p>
        </p:txBody>
      </p:sp>
    </p:spTree>
    <p:extLst>
      <p:ext uri="{BB962C8B-B14F-4D97-AF65-F5344CB8AC3E}">
        <p14:creationId xmlns:p14="http://schemas.microsoft.com/office/powerpoint/2010/main" val="5887287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Интерфейс для людей. API для интеграции">
            <a:extLst xmlns:a="http://schemas.openxmlformats.org/drawingml/2006/main">
              <a:ext uri="{FF2B5EF4-FFF2-40B4-BE49-F238E27FC236}">
                <a16:creationId xmlns:a16="http://schemas.microsoft.com/office/drawing/2014/main" id="{29559DAD-1493-4593-9550-F2C23E6D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Интерфейс для людей. API для интеграции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2C2326BB-BDEE-4215-A3DD-4009D26F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Загрузка видео">
            <a:extLst xmlns:a="http://schemas.openxmlformats.org/drawingml/2006/main">
              <a:ext uri="{FF2B5EF4-FFF2-40B4-BE49-F238E27FC236}">
                <a16:creationId xmlns:a16="http://schemas.microsoft.com/office/drawing/2014/main" id="{4697AA6A-E99B-4559-B933-09F70549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Загрузка видео</a:t>
            </a:r>
          </a:p>
        </p:txBody>
      </p:sp>
      <p:sp>
        <p:nvSpPr>
          <p:cNvPr id="4" name="POST /api/v1/analyze">
            <a:extLst xmlns:a="http://schemas.openxmlformats.org/drawingml/2006/main">
              <a:ext uri="{FF2B5EF4-FFF2-40B4-BE49-F238E27FC236}">
                <a16:creationId xmlns:a16="http://schemas.microsoft.com/office/drawing/2014/main" id="{F7B5DA9F-EA8C-4555-A90A-163D0436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POST /api/v1/analyze</a:t>
            </a:r>
          </a:p>
        </p:txBody>
      </p:sp>
      <p:sp>
        <p:nvSpPr>
          <p:cNvPr id="5" name="Ответ: идентификатор задачи">
            <a:extLst xmlns:a="http://schemas.openxmlformats.org/drawingml/2006/main">
              <a:ext uri="{FF2B5EF4-FFF2-40B4-BE49-F238E27FC236}">
                <a16:creationId xmlns:a16="http://schemas.microsoft.com/office/drawing/2014/main" id="{1D058E72-16A9-4FC6-89D6-08959D77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Ответ: идентификатор задачи</a:t>
            </a:r>
          </a:p>
        </p:txBody>
      </p:sp>
      <p:sp>
        <p:nvSpPr>
          <p:cNvPr id="6" name="Получение результата">
            <a:extLst xmlns:a="http://schemas.openxmlformats.org/drawingml/2006/main">
              <a:ext uri="{FF2B5EF4-FFF2-40B4-BE49-F238E27FC236}">
                <a16:creationId xmlns:a16="http://schemas.microsoft.com/office/drawing/2014/main" id="{FCF11D9F-1ACD-43C9-94DB-F0E9B43A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77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Получение результата</a:t>
            </a:r>
          </a:p>
        </p:txBody>
      </p:sp>
      <p:sp>
        <p:nvSpPr>
          <p:cNvPr id="7" name="GET /api/v1/jobs/{job_id}">
            <a:extLst xmlns:a="http://schemas.openxmlformats.org/drawingml/2006/main">
              <a:ext uri="{FF2B5EF4-FFF2-40B4-BE49-F238E27FC236}">
                <a16:creationId xmlns:a16="http://schemas.microsoft.com/office/drawing/2014/main" id="{1A846AD1-E920-441B-B5CB-7B595D8D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GET /api/v1/jobs/{job_id}</a:t>
            </a:r>
          </a:p>
        </p:txBody>
      </p:sp>
      <p:sp>
        <p:nvSpPr>
          <p:cNvPr id="8" name="Статус обработки и отчёт JSON. Доступ к API защищает отдельный ключ X-">
            <a:extLst xmlns:a="http://schemas.openxmlformats.org/drawingml/2006/main">
              <a:ext uri="{FF2B5EF4-FFF2-40B4-BE49-F238E27FC236}">
                <a16:creationId xmlns:a16="http://schemas.microsoft.com/office/drawing/2014/main" id="{FE5286C8-F709-45E1-969B-7E2A0EB0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Статус обработки и отчёт JSON. Доступ к API защищает отдельный ключ X-API-Key.</a:t>
            </a:r>
          </a:p>
        </p:txBody>
      </p:sp>
    </p:spTree>
    <p:extLst>
      <p:ext uri="{BB962C8B-B14F-4D97-AF65-F5344CB8AC3E}">
        <p14:creationId xmlns:p14="http://schemas.microsoft.com/office/powerpoint/2010/main" val="278790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В основе сервиса R3D-18">
            <a:extLst xmlns:a="http://schemas.openxmlformats.org/drawingml/2006/main">
              <a:ext uri="{FF2B5EF4-FFF2-40B4-BE49-F238E27FC236}">
                <a16:creationId xmlns:a16="http://schemas.microsoft.com/office/drawing/2014/main" id="{4826D076-E5A8-4C20-AE8D-D3D54A88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В основе сервиса R3D-18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1C4C1C41-B682-4215-86CA-E094F090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3D-18">
            <a:extLst xmlns:a="http://schemas.openxmlformats.org/drawingml/2006/main">
              <a:ext uri="{FF2B5EF4-FFF2-40B4-BE49-F238E27FC236}">
                <a16:creationId xmlns:a16="http://schemas.microsoft.com/office/drawing/2014/main" id="{480C7CD6-9569-41C6-B68F-0EB11167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R3D-18</a:t>
            </a:r>
          </a:p>
        </p:txBody>
      </p:sp>
      <p:sp>
        <p:nvSpPr>
          <p:cNvPr id="4" name="Видеопризнаки">
            <a:extLst xmlns:a="http://schemas.openxmlformats.org/drawingml/2006/main">
              <a:ext uri="{FF2B5EF4-FFF2-40B4-BE49-F238E27FC236}">
                <a16:creationId xmlns:a16="http://schemas.microsoft.com/office/drawing/2014/main" id="{5D7BAC00-EB35-4CE5-AEF9-72C78B75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Видеопризнаки</a:t>
            </a:r>
          </a:p>
        </p:txBody>
      </p:sp>
      <p:sp>
        <p:nvSpPr>
          <p:cNvPr id="5" name="Предобученная модель анализирует последовательности кадров.">
            <a:extLst xmlns:a="http://schemas.openxmlformats.org/drawingml/2006/main">
              <a:ext uri="{FF2B5EF4-FFF2-40B4-BE49-F238E27FC236}">
                <a16:creationId xmlns:a16="http://schemas.microsoft.com/office/drawing/2014/main" id="{4C356963-28E3-45DA-A33D-EBC48A3E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Предобученная модель анализирует последовательности кадров.</a:t>
            </a:r>
          </a:p>
        </p:txBody>
      </p:sp>
      <p:sp>
        <p:nvSpPr>
          <p:cNvPr id="6" name="Оценка событий">
            <a:extLst xmlns:a="http://schemas.openxmlformats.org/drawingml/2006/main">
              <a:ext uri="{FF2B5EF4-FFF2-40B4-BE49-F238E27FC236}">
                <a16:creationId xmlns:a16="http://schemas.microsoft.com/office/drawing/2014/main" id="{00E2B583-5CA3-41DC-822A-639BB81B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2905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Оценка событий</a:t>
            </a:r>
          </a:p>
        </p:txBody>
      </p:sp>
      <p:sp>
        <p:nvSpPr>
          <p:cNvPr id="7" name="Классификаторы определяют тип гипотезы и момент срабатывания.">
            <a:extLst xmlns:a="http://schemas.openxmlformats.org/drawingml/2006/main">
              <a:ext uri="{FF2B5EF4-FFF2-40B4-BE49-F238E27FC236}">
                <a16:creationId xmlns:a16="http://schemas.microsoft.com/office/drawing/2014/main" id="{E74B6A76-90B5-4F0F-AE50-4AA1E527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514850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Классификаторы определяют тип гипотезы и момент срабатывания.</a:t>
            </a:r>
          </a:p>
        </p:txBody>
      </p:sp>
      <p:sp>
        <p:nvSpPr>
          <p:cNvPr id="8" name="Текущая версия: typed_v2. Стек приложения: PyTorch, FastAPI и Streamli">
            <a:extLst xmlns:a="http://schemas.openxmlformats.org/drawingml/2006/main">
              <a:ext uri="{FF2B5EF4-FFF2-40B4-BE49-F238E27FC236}">
                <a16:creationId xmlns:a16="http://schemas.microsoft.com/office/drawing/2014/main" id="{3190DB4F-7779-4EE2-835B-7139CF37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Текущая версия: typed_v2. Стек приложения: PyTorch, FastAPI и Streamlit.</a:t>
            </a:r>
          </a:p>
        </p:txBody>
      </p:sp>
    </p:spTree>
    <p:extLst>
      <p:ext uri="{BB962C8B-B14F-4D97-AF65-F5344CB8AC3E}">
        <p14:creationId xmlns:p14="http://schemas.microsoft.com/office/powerpoint/2010/main" val="20074128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Управляемый процесс обработки">
            <a:extLst xmlns:a="http://schemas.openxmlformats.org/drawingml/2006/main">
              <a:ext uri="{FF2B5EF4-FFF2-40B4-BE49-F238E27FC236}">
                <a16:creationId xmlns:a16="http://schemas.microsoft.com/office/drawing/2014/main" id="{432E3157-E583-4381-95DA-5FF12FEE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Управляемый процесс обработки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E76BA767-7905-4F40-8949-D2F64528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Доступ">
            <a:extLst xmlns:a="http://schemas.openxmlformats.org/drawingml/2006/main">
              <a:ext uri="{FF2B5EF4-FFF2-40B4-BE49-F238E27FC236}">
                <a16:creationId xmlns:a16="http://schemas.microsoft.com/office/drawing/2014/main" id="{4C9E35C9-F1BA-42ED-B91B-730F2357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Доступ</a:t>
            </a:r>
          </a:p>
        </p:txBody>
      </p:sp>
      <p:sp>
        <p:nvSpPr>
          <p:cNvPr id="4" name="Логин и пароль для защищённого демо, отдельный ключ для API">
            <a:extLst xmlns:a="http://schemas.openxmlformats.org/drawingml/2006/main">
              <a:ext uri="{FF2B5EF4-FFF2-40B4-BE49-F238E27FC236}">
                <a16:creationId xmlns:a16="http://schemas.microsoft.com/office/drawing/2014/main" id="{9A3028F1-5203-4001-B1C0-997E8071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781175"/>
            <a:ext cx="7477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Логин и пароль для защищённого демо, отдельный ключ для API</a:t>
            </a:r>
          </a:p>
        </p:txBody>
      </p:sp>
      <p:sp>
        <p:nvSpPr>
          <p:cNvPr id="5" name="Очередь">
            <a:extLst xmlns:a="http://schemas.openxmlformats.org/drawingml/2006/main">
              <a:ext uri="{FF2B5EF4-FFF2-40B4-BE49-F238E27FC236}">
                <a16:creationId xmlns:a16="http://schemas.microsoft.com/office/drawing/2014/main" id="{20CA7925-B67C-48F9-AE49-EB05D09C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Очередь</a:t>
            </a:r>
          </a:p>
        </p:txBody>
      </p:sp>
      <p:sp>
        <p:nvSpPr>
          <p:cNvPr id="6" name="Понятный статус анализа после загрузки записи">
            <a:extLst xmlns:a="http://schemas.openxmlformats.org/drawingml/2006/main">
              <a:ext uri="{FF2B5EF4-FFF2-40B4-BE49-F238E27FC236}">
                <a16:creationId xmlns:a16="http://schemas.microsoft.com/office/drawing/2014/main" id="{9EC7FC1F-4D46-42D6-B88C-F6EC2D00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57500"/>
            <a:ext cx="7477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Понятный статус анализа после загрузки записи</a:t>
            </a:r>
          </a:p>
        </p:txBody>
      </p:sp>
      <p:sp>
        <p:nvSpPr>
          <p:cNvPr id="7" name="Ошибки">
            <a:extLst xmlns:a="http://schemas.openxmlformats.org/drawingml/2006/main">
              <a:ext uri="{FF2B5EF4-FFF2-40B4-BE49-F238E27FC236}">
                <a16:creationId xmlns:a16="http://schemas.microsoft.com/office/drawing/2014/main" id="{E0CF8F33-B3E1-47E8-9C12-9DD8B52D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Ошибки</a:t>
            </a:r>
          </a:p>
        </p:txBody>
      </p:sp>
      <p:sp>
        <p:nvSpPr>
          <p:cNvPr id="8" name="Сбой обработки имеет отдельный статус failed">
            <a:extLst xmlns:a="http://schemas.openxmlformats.org/drawingml/2006/main">
              <a:ext uri="{FF2B5EF4-FFF2-40B4-BE49-F238E27FC236}">
                <a16:creationId xmlns:a16="http://schemas.microsoft.com/office/drawing/2014/main" id="{4763B46E-E4E8-4834-B870-93FDF0D1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933825"/>
            <a:ext cx="7477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Сбой обработки имеет отдельный статус failed</a:t>
            </a:r>
          </a:p>
        </p:txBody>
      </p:sp>
      <p:sp>
        <p:nvSpPr>
          <p:cNvPr id="9" name="Результат">
            <a:extLst xmlns:a="http://schemas.openxmlformats.org/drawingml/2006/main">
              <a:ext uri="{FF2B5EF4-FFF2-40B4-BE49-F238E27FC236}">
                <a16:creationId xmlns:a16="http://schemas.microsoft.com/office/drawing/2014/main" id="{C259C5FA-8CCE-4D25-ABB6-B782410C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0" name="Проверяемый JSON и реальные кадры исходного видео">
            <a:extLst xmlns:a="http://schemas.openxmlformats.org/drawingml/2006/main">
              <a:ext uri="{FF2B5EF4-FFF2-40B4-BE49-F238E27FC236}">
                <a16:creationId xmlns:a16="http://schemas.microsoft.com/office/drawing/2014/main" id="{0BB514DE-BD7F-451C-9146-23999306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010150"/>
            <a:ext cx="7477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Проверяемый JSON и реальные кадры исходного видео</a:t>
            </a:r>
          </a:p>
        </p:txBody>
      </p:sp>
    </p:spTree>
    <p:extLst>
      <p:ext uri="{BB962C8B-B14F-4D97-AF65-F5344CB8AC3E}">
        <p14:creationId xmlns:p14="http://schemas.microsoft.com/office/powerpoint/2010/main" val="20366085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4A0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Что получает команда контроля">
            <a:extLst xmlns:a="http://schemas.openxmlformats.org/drawingml/2006/main">
              <a:ext uri="{FF2B5EF4-FFF2-40B4-BE49-F238E27FC236}">
                <a16:creationId xmlns:a16="http://schemas.microsoft.com/office/drawing/2014/main" id="{E58AA6AB-AD68-4B8D-BF8B-0747FFC5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получает команда контроля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523E0F8D-D4AD-453A-B4D7-9A314887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A8B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Материал для решения&#10;в одном отчёте">
            <a:extLst xmlns:a="http://schemas.openxmlformats.org/drawingml/2006/main">
              <a:ext uri="{FF2B5EF4-FFF2-40B4-BE49-F238E27FC236}">
                <a16:creationId xmlns:a16="http://schemas.microsoft.com/office/drawing/2014/main" id="{BFD6E349-85A6-4B6E-9FA4-49AB1A11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810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Материал для решения</a:t>
            </a:r>
          </a:p>
          <a:p xmlns:a="http://schemas.openxmlformats.org/drawingml/2006/main">
            <a:pPr algn="l"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 одном отчёте</a:t>
            </a:r>
          </a:p>
        </p:txBody>
      </p:sp>
      <p:sp>
        <p:nvSpPr>
          <p:cNvPr id="4" name="Для проверяющего">
            <a:extLst xmlns:a="http://schemas.openxmlformats.org/drawingml/2006/main">
              <a:ext uri="{FF2B5EF4-FFF2-40B4-BE49-F238E27FC236}">
                <a16:creationId xmlns:a16="http://schemas.microsoft.com/office/drawing/2014/main" id="{D93766FB-CE22-46FF-8679-5553814E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3DCEC"/>
                </a:solidFill>
                <a:latin typeface="Arial"/>
                <a:ea typeface="Arial"/>
                <a:cs typeface="Arial"/>
              </a:rPr>
              <a:t>Для проверяющего</a:t>
            </a:r>
          </a:p>
        </p:txBody>
      </p:sp>
      <p:sp>
        <p:nvSpPr>
          <p:cNvPr id="5" name="Фрагменты с таймкодами и кадрами, к которым можно вернуться.">
            <a:extLst xmlns:a="http://schemas.openxmlformats.org/drawingml/2006/main">
              <a:ext uri="{FF2B5EF4-FFF2-40B4-BE49-F238E27FC236}">
                <a16:creationId xmlns:a16="http://schemas.microsoft.com/office/drawing/2014/main" id="{258351FC-E103-4FA7-A3AE-7CB0C630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0E2E9"/>
                </a:solidFill>
                <a:latin typeface="Arial"/>
                <a:ea typeface="Arial"/>
                <a:cs typeface="Arial"/>
              </a:rPr>
              <a:t>Фрагменты с таймкодами и кадрами, к которым можно вернуться.</a:t>
            </a:r>
          </a:p>
        </p:txBody>
      </p:sp>
      <p:sp>
        <p:nvSpPr>
          <p:cNvPr id="6" name="Для организации">
            <a:extLst xmlns:a="http://schemas.openxmlformats.org/drawingml/2006/main">
              <a:ext uri="{FF2B5EF4-FFF2-40B4-BE49-F238E27FC236}">
                <a16:creationId xmlns:a16="http://schemas.microsoft.com/office/drawing/2014/main" id="{90902898-EF12-4D9F-AE36-C8478021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1480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3DCEC"/>
                </a:solidFill>
                <a:latin typeface="Arial"/>
                <a:ea typeface="Arial"/>
                <a:cs typeface="Arial"/>
              </a:rPr>
              <a:t>Для организации</a:t>
            </a:r>
          </a:p>
        </p:txBody>
      </p:sp>
      <p:sp>
        <p:nvSpPr>
          <p:cNvPr id="7" name="Единый JSON и локальный сервис, доступный через API.">
            <a:extLst xmlns:a="http://schemas.openxmlformats.org/drawingml/2006/main">
              <a:ext uri="{FF2B5EF4-FFF2-40B4-BE49-F238E27FC236}">
                <a16:creationId xmlns:a16="http://schemas.microsoft.com/office/drawing/2014/main" id="{1392744E-9986-4135-BAA1-E50125B4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00600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0E2E9"/>
                </a:solidFill>
                <a:latin typeface="Arial"/>
                <a:ea typeface="Arial"/>
                <a:cs typeface="Arial"/>
              </a:rPr>
              <a:t>Единый JSON и локальный сервис, доступный через API.</a:t>
            </a:r>
          </a:p>
        </p:txBody>
      </p:sp>
    </p:spTree>
    <p:extLst>
      <p:ext uri="{BB962C8B-B14F-4D97-AF65-F5344CB8AC3E}">
        <p14:creationId xmlns:p14="http://schemas.microsoft.com/office/powerpoint/2010/main" val="3921682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Рабочая версия для демонстрации">
            <a:extLst xmlns:a="http://schemas.openxmlformats.org/drawingml/2006/main">
              <a:ext uri="{FF2B5EF4-FFF2-40B4-BE49-F238E27FC236}">
                <a16:creationId xmlns:a16="http://schemas.microsoft.com/office/drawing/2014/main" id="{04EDF6D4-9BC7-4A44-8B30-9B55B6BF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Рабочая версия для демонстрации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B66F65A3-73D0-4FA8-A30C-E79F4B80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Полный сценарий&#10;проверки видео">
            <a:extLst xmlns:a="http://schemas.openxmlformats.org/drawingml/2006/main">
              <a:ext uri="{FF2B5EF4-FFF2-40B4-BE49-F238E27FC236}">
                <a16:creationId xmlns:a16="http://schemas.microsoft.com/office/drawing/2014/main" id="{CDA0D6AC-68E9-47C8-B08C-62285E00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143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1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Полный сценарий</a:t>
            </a:r>
          </a:p>
          <a:p xmlns:a="http://schemas.openxmlformats.org/drawingml/2006/main">
            <a:pPr algn="l">
              <a:buNone/>
              <a:defRPr sz="4125" b="1">
                <a:solidFill>
                  <a:srgbClr val="4A0221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4A0221"/>
                </a:solidFill>
                <a:latin typeface="Arial"/>
                <a:ea typeface="Arial"/>
                <a:cs typeface="Arial"/>
              </a:rPr>
              <a:t>проверки видео</a:t>
            </a:r>
          </a:p>
        </p:txBody>
      </p:sp>
      <p:sp>
        <p:nvSpPr>
          <p:cNvPr id="4" name="Загрузка в браузере&#10;Автоматическое появление отчёта&#10;Скачивание результ">
            <a:extLst xmlns:a="http://schemas.openxmlformats.org/drawingml/2006/main">
              <a:ext uri="{FF2B5EF4-FFF2-40B4-BE49-F238E27FC236}">
                <a16:creationId xmlns:a16="http://schemas.microsoft.com/office/drawing/2014/main" id="{C377BD91-EFC4-4D65-B571-8DC06D70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69532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Загрузка в браузере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Автоматическое появление отчёта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D26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D2630"/>
                </a:solidFill>
                <a:latin typeface="Arial"/>
                <a:ea typeface="Arial"/>
                <a:cs typeface="Arial"/>
              </a:rPr>
              <a:t>Скачивание результата JSON</a:t>
            </a:r>
          </a:p>
        </p:txBody>
      </p:sp>
      <p:sp>
        <p:nvSpPr>
          <p:cNvPr id="5" name="Демонстрационная версия. Качество&#10;на новых записях требует проверки.&#10;Р">
            <a:extLst xmlns:a="http://schemas.openxmlformats.org/drawingml/2006/main">
              <a:ext uri="{FF2B5EF4-FFF2-40B4-BE49-F238E27FC236}">
                <a16:creationId xmlns:a16="http://schemas.microsoft.com/office/drawing/2014/main" id="{417DD283-A6F4-4AE8-9C1E-A297D789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Демонстрационная версия. Качество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на новых записях требует проверки.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7568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56873"/>
                </a:solidFill>
                <a:latin typeface="Arial"/>
                <a:ea typeface="Arial"/>
                <a:cs typeface="Arial"/>
              </a:rPr>
              <a:t>Решение принимает оператор.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4F561-DD42-45DF-AF13-808A9819E4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00582bc6a4552"/>
          <a:stretch xmlns:a="http://schemas.openxmlformats.org/drawingml/2006/main"/>
        </p:blipFill>
        <p:spPr>
          <a:xfrm xmlns:a="http://schemas.openxmlformats.org/drawingml/2006/main">
            <a:off x="9197106" y="1466850"/>
            <a:ext cx="1808312" cy="4914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66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4A0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Демонстрация на вашей записи">
            <a:extLst xmlns:a="http://schemas.openxmlformats.org/drawingml/2006/main">
              <a:ext uri="{FF2B5EF4-FFF2-40B4-BE49-F238E27FC236}">
                <a16:creationId xmlns:a16="http://schemas.microsoft.com/office/drawing/2014/main" id="{1265239C-F722-4FF5-BA2C-0253AA6C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Демонстрация на вашей записи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AB6B692F-ECCC-499A-B092-F1369183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C9A8B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A8B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ForteAI&#10;Cash Control">
            <a:extLst xmlns:a="http://schemas.openxmlformats.org/drawingml/2006/main">
              <a:ext uri="{FF2B5EF4-FFF2-40B4-BE49-F238E27FC236}">
                <a16:creationId xmlns:a16="http://schemas.microsoft.com/office/drawing/2014/main" id="{05AEA4A4-6BB6-4FA7-A22A-969C1F81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66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ForteAI</a:t>
            </a:r>
          </a:p>
          <a:p xmlns:a="http://schemas.openxmlformats.org/drawingml/2006/main">
            <a:pPr algn="l">
              <a:buNone/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Cash Control</a:t>
            </a:r>
          </a:p>
        </p:txBody>
      </p:sp>
      <p:sp>
        <p:nvSpPr>
          <p:cNvPr id="4" name="Выберите кассовую запись.&#10;Покажем, как сервис собирает материал для пр">
            <a:extLst xmlns:a="http://schemas.openxmlformats.org/drawingml/2006/main">
              <a:ext uri="{FF2B5EF4-FFF2-40B4-BE49-F238E27FC236}">
                <a16:creationId xmlns:a16="http://schemas.microsoft.com/office/drawing/2014/main" id="{1893653A-D1E5-4319-AB6F-7A8A493B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0E2E9"/>
                </a:solidFill>
                <a:latin typeface="Arial"/>
                <a:ea typeface="Arial"/>
                <a:cs typeface="Arial"/>
              </a:rPr>
              <a:t>Выберите кассовую запись.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F0E2E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0E2E9"/>
                </a:solidFill>
                <a:latin typeface="Arial"/>
                <a:ea typeface="Arial"/>
                <a:cs typeface="Arial"/>
              </a:rPr>
              <a:t>Покажем, как сервис собирает материал для проверки.</a:t>
            </a:r>
          </a:p>
        </p:txBody>
      </p:sp>
      <p:sp>
        <p:nvSpPr>
          <p:cNvPr id="5" name="Открыть приложение">
            <a:extLst xmlns:a="http://schemas.openxmlformats.org/drawingml/2006/main">
              <a:ext uri="{FF2B5EF4-FFF2-40B4-BE49-F238E27FC236}">
                <a16:creationId xmlns:a16="http://schemas.microsoft.com/office/drawing/2014/main" id="{CD66EECD-4DBB-4BAC-9E84-00521C51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83DCE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3DCEC"/>
                </a:solidFill>
                <a:latin typeface="Arial"/>
                <a:ea typeface="Arial"/>
                <a:cs typeface="Arial"/>
                <a:hlinkClick xmlns:r="http://schemas.openxmlformats.org/officeDocument/2006/relationships" r:id="Rd65a6361ec374104"/>
              </a:rPr>
              <a:t>Демо и инструкции</a:t>
            </a:r>
          </a:p>
        </p:txBody>
      </p:sp>
      <p:sp>
        <p:nvSpPr>
          <p:cNvPr id="6" name="На компьютере с работающим сервисом">
            <a:extLst xmlns:a="http://schemas.openxmlformats.org/drawingml/2006/main">
              <a:ext uri="{FF2B5EF4-FFF2-40B4-BE49-F238E27FC236}">
                <a16:creationId xmlns:a16="http://schemas.microsoft.com/office/drawing/2014/main" id="{5C03EEFA-F910-4D19-9D27-1C0E4354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DDBFC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BFCD"/>
                </a:solidFill>
                <a:latin typeface="Arial"/>
                <a:ea typeface="Arial"/>
                <a:cs typeface="Arial"/>
              </a:rPr>
              <a:t>Актуальная ссылка на демо и порядок доступа в GitHub</a:t>
            </a:r>
          </a:p>
        </p:txBody>
      </p:sp>
    </p:spTree>
    <p:extLst>
      <p:ext uri="{BB962C8B-B14F-4D97-AF65-F5344CB8AC3E}">
        <p14:creationId xmlns:p14="http://schemas.microsoft.com/office/powerpoint/2010/main" val="1656542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2026-10-18T06:19:18.1830000Z</dcterms:created>
  <dcterms:modified xsi:type="dcterms:W3CDTF">2026-10-18T06:19:18.1830000Z</dcterms:modified>
</coreProperties>
</file>