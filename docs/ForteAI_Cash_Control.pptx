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cec7bc6a7834691" /><Relationship Type="http://schemas.openxmlformats.org/officeDocument/2006/relationships/extended-properties" Target="/docProps/app.xml" Id="Rd157076489804f8e" /><Relationship Type="http://schemas.openxmlformats.org/officeDocument/2006/relationships/officeDocument" Target="/ppt/presentation.xml" Id="R7aaf1ca825f440d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95b1a01b7bd46e1"/>
  </p:sldMasterIdLst>
  <p:notesMasterIdLst>
    <p:notesMasterId xmlns:r="http://schemas.openxmlformats.org/officeDocument/2006/relationships" r:id="R48cd607de3b74e8d"/>
  </p:notesMasterIdLst>
  <p:sldIdLst>
    <p:sldId xmlns:r="http://schemas.openxmlformats.org/officeDocument/2006/relationships" id="256" r:id="R36b6804fc0864ccf"/>
    <p:sldId xmlns:r="http://schemas.openxmlformats.org/officeDocument/2006/relationships" id="257" r:id="R84e9f143ece94c4d"/>
    <p:sldId xmlns:r="http://schemas.openxmlformats.org/officeDocument/2006/relationships" id="258" r:id="R2352987bfba140b3"/>
    <p:sldId xmlns:r="http://schemas.openxmlformats.org/officeDocument/2006/relationships" id="259" r:id="R108facddd3cb464d"/>
    <p:sldId xmlns:r="http://schemas.openxmlformats.org/officeDocument/2006/relationships" id="260" r:id="R5ea54dcf039940fb"/>
    <p:sldId xmlns:r="http://schemas.openxmlformats.org/officeDocument/2006/relationships" id="261" r:id="R8f6214644ab54c2e"/>
    <p:sldId xmlns:r="http://schemas.openxmlformats.org/officeDocument/2006/relationships" id="262" r:id="R4c663741673a4643"/>
    <p:sldId xmlns:r="http://schemas.openxmlformats.org/officeDocument/2006/relationships" id="263" r:id="Rfda93c67a8194ede"/>
    <p:sldId xmlns:r="http://schemas.openxmlformats.org/officeDocument/2006/relationships" id="264" r:id="R6e1315cd55014ca1"/>
    <p:sldId xmlns:r="http://schemas.openxmlformats.org/officeDocument/2006/relationships" id="265" r:id="R86364739acfc4bad"/>
    <p:sldId xmlns:r="http://schemas.openxmlformats.org/officeDocument/2006/relationships" id="266" r:id="Rdc83fbc158534e4d"/>
    <p:sldId xmlns:r="http://schemas.openxmlformats.org/officeDocument/2006/relationships" id="267" r:id="R180dd389f8da4f3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f76d6980a1a40e4" /><Relationship Type="http://schemas.openxmlformats.org/officeDocument/2006/relationships/slideMaster" Target="/ppt/slideMasters/slideMaster1.xml" Id="R495b1a01b7bd46e1" /><Relationship Type="http://schemas.openxmlformats.org/officeDocument/2006/relationships/notesMaster" Target="/ppt/notesMasters/notesMaster1.xml" Id="R48cd607de3b74e8d" /><Relationship Type="http://schemas.openxmlformats.org/officeDocument/2006/relationships/presProps" Target="/ppt/presProps.xml" Id="R39fb9002ca9543a0" /><Relationship Type="http://schemas.openxmlformats.org/officeDocument/2006/relationships/tableStyles" Target="/ppt/tableStyles.xml" Id="Rfdba362efea249b0" /><Relationship Type="http://schemas.openxmlformats.org/officeDocument/2006/relationships/slide" Target="/ppt/slides/slide1.xml" Id="R36b6804fc0864ccf" /><Relationship Type="http://schemas.openxmlformats.org/officeDocument/2006/relationships/slide" Target="/ppt/slides/slide2.xml" Id="R84e9f143ece94c4d" /><Relationship Type="http://schemas.openxmlformats.org/officeDocument/2006/relationships/slide" Target="/ppt/slides/slide3.xml" Id="R2352987bfba140b3" /><Relationship Type="http://schemas.openxmlformats.org/officeDocument/2006/relationships/slide" Target="/ppt/slides/slide4.xml" Id="R108facddd3cb464d" /><Relationship Type="http://schemas.openxmlformats.org/officeDocument/2006/relationships/slide" Target="/ppt/slides/slide5.xml" Id="R5ea54dcf039940fb" /><Relationship Type="http://schemas.openxmlformats.org/officeDocument/2006/relationships/slide" Target="/ppt/slides/slide6.xml" Id="R8f6214644ab54c2e" /><Relationship Type="http://schemas.openxmlformats.org/officeDocument/2006/relationships/slide" Target="/ppt/slides/slide7.xml" Id="R4c663741673a4643" /><Relationship Type="http://schemas.openxmlformats.org/officeDocument/2006/relationships/slide" Target="/ppt/slides/slide8.xml" Id="Rfda93c67a8194ede" /><Relationship Type="http://schemas.openxmlformats.org/officeDocument/2006/relationships/slide" Target="/ppt/slides/slide9.xml" Id="R6e1315cd55014ca1" /><Relationship Type="http://schemas.openxmlformats.org/officeDocument/2006/relationships/slide" Target="/ppt/slides/slide10.xml" Id="R86364739acfc4bad" /><Relationship Type="http://schemas.openxmlformats.org/officeDocument/2006/relationships/slide" Target="/ppt/slides/slide11.xml" Id="Rdc83fbc158534e4d" /><Relationship Type="http://schemas.openxmlformats.org/officeDocument/2006/relationships/slide" Target="/ppt/slides/slide12.xml" Id="R180dd389f8da4f3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47144151c8a4f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abaf9797f4441d" /><Relationship Type="http://schemas.openxmlformats.org/officeDocument/2006/relationships/notesMaster" Target="/ppt/notesMasters/notesMaster1.xml" Id="R05c471c1f87d4c5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d3610fdbfd644d7" /><Relationship Type="http://schemas.openxmlformats.org/officeDocument/2006/relationships/notesMaster" Target="/ppt/notesMasters/notesMaster1.xml" Id="R6b36bd897fcc448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dd3c5ff0fad4954" /><Relationship Type="http://schemas.openxmlformats.org/officeDocument/2006/relationships/notesMaster" Target="/ppt/notesMasters/notesMaster1.xml" Id="R92f38137d313498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6f8a3b80484d47" /><Relationship Type="http://schemas.openxmlformats.org/officeDocument/2006/relationships/notesMaster" Target="/ppt/notesMasters/notesMaster1.xml" Id="Rafc7ba468a3e4f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e14d3da802a4b73" /><Relationship Type="http://schemas.openxmlformats.org/officeDocument/2006/relationships/notesMaster" Target="/ppt/notesMasters/notesMaster1.xml" Id="R89fd6ffed47742c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73e081a40a04ae0" /><Relationship Type="http://schemas.openxmlformats.org/officeDocument/2006/relationships/notesMaster" Target="/ppt/notesMasters/notesMaster1.xml" Id="R9dcb8dbbede54e5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ec70427235242fe" /><Relationship Type="http://schemas.openxmlformats.org/officeDocument/2006/relationships/notesMaster" Target="/ppt/notesMasters/notesMaster1.xml" Id="Re5dfb58e74f8433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0b448c4180848cb" /><Relationship Type="http://schemas.openxmlformats.org/officeDocument/2006/relationships/notesMaster" Target="/ppt/notesMasters/notesMaster1.xml" Id="Rcce5cfc781fc4bd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7565809785c44fe" /><Relationship Type="http://schemas.openxmlformats.org/officeDocument/2006/relationships/notesMaster" Target="/ppt/notesMasters/notesMaster1.xml" Id="R47fa913236be46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e1b5d90a8ee486a" /><Relationship Type="http://schemas.openxmlformats.org/officeDocument/2006/relationships/notesMaster" Target="/ppt/notesMasters/notesMaster1.xml" Id="Rebca3cfb4a424f6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2cbd6c1de194184" /><Relationship Type="http://schemas.openxmlformats.org/officeDocument/2006/relationships/notesMaster" Target="/ppt/notesMasters/notesMaster1.xml" Id="R7cf46ec8c655477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45a2476c2a54264" /><Relationship Type="http://schemas.openxmlformats.org/officeDocument/2006/relationships/notesMaster" Target="/ppt/notesMasters/notesMaster1.xml" Id="R43baf442e8914a4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ForteAI Cash Control помогает команде контроля работать с кассовыми видеозаписями. Сервис выделяет фрагменты для проверки и собирает таймкоды, реальные кадры и пояснения в одном результате. Сегодня показываем рабочую демонстрационную версию, в которой решение остаётся у специалиста.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cash_ml/app.py</a:t>
            </a:r>
          </a:p>
          <a:p xmlns:a="http://schemas.openxmlformats.org/drawingml/2006/main">
            <a:r>
              <a:t>cash_ml/service.py</a:t>
            </a:r>
          </a:p>
          <a:p xmlns:a="http://schemas.openxmlformats.org/drawingml/2006/main">
            <a:r>
              <a:t>https://bank.forte.kz/ru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 кейсе банка ручной просмотр видео занимает время. Проверяющему нужно найти эпизод и восстановить контекст. Ценность нашего сервиса в том, что результат уже содержит указатель на фрагмент и материал для разбора. Денежный эффект и сокращение времени в процентах мы не заявляем.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outputs/case_review/word_document.xml.txt</a:t>
            </a:r>
          </a:p>
          <a:p xmlns:a="http://schemas.openxmlformats.org/drawingml/2006/main">
            <a:r>
              <a:t>cash_ml/service.py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Это реальный экран текущего приложения, а не макет. Пользователь загружает MOV и запускает анализ. Очередь обрабатывает видео, а интерфейс автоматически показывает результат. Для работы не требуется запускать код. Исходные банковские кадры в презентации не используются.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cash_ml/app.py</a:t>
            </a:r>
          </a:p>
          <a:p xmlns:a="http://schemas.openxmlformats.org/drawingml/2006/main">
            <a:r>
              <a:t>outputs/design_forte/verification.json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Каждое срабатывание содержит тип, временную отметку, описание гипотезы и от одного до трёх настоящих кадров из загруженного файла. Описание подсказывает, что нужно проверить, и приводит нормативную справку там, где она предусмотрена реестром. Оно не заменяет наблюдение специалиста и не утверждает невидимых действий.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cash_ml/service.py</a:t>
            </a:r>
          </a:p>
          <a:p xmlns:a="http://schemas.openxmlformats.org/drawingml/2006/main">
            <a:r>
              <a:t>cash_ml/evidence.py</a:t>
            </a:r>
          </a:p>
          <a:p xmlns:a="http://schemas.openxmlformats.org/drawingml/2006/main">
            <a:r>
              <a:t>cash_ml/rules.py</a:t>
            </a:r>
          </a:p>
          <a:p xmlns:a="http://schemas.openxmlformats.org/drawingml/2006/main">
            <a:r>
              <a:t>backend/schemas.py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Продукт использует строгий список из актуальной разметки. Группы на слайде служат удобству объяснения и не меняют API. Это поддерживаемые категории гипотез, а не подтверждение качества каждой категории. Полномочия человека нельзя определять по внешности. Точные значения: cash_left_unattended, cash_taken_before_verification, customer_cash_mixing, incorrect_cash_handover, overlapping_customer_transactions, cash_area_door_left_open, safe_left_open, safe_key_left_in_lock, unauthorized_person_in_cash_area, personal_items_in_work_area, unclassified_violation.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cash_ml/forte_ui.py</a:t>
            </a:r>
          </a:p>
          <a:p xmlns:a="http://schemas.openxmlformats.org/drawingml/2006/main">
            <a:r>
              <a:t>models/cash_r3d/typed_report.json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Модели выполняются внутри развёрнутого сервиса. После загрузки весов анализ не требует облачных AI API. Работа без сетевого доступа была проверена. Видео, кадры и описания не передаются облачным моделям. Временный HTTPS-туннель служит сетевым транспортом и не является облачным AI-вычислением. Презентация не утверждает, что система уже развёрнута во внутреннем контуре банка.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cash_ml/features.py</a:t>
            </a:r>
          </a:p>
          <a:p xmlns:a="http://schemas.openxmlformats.org/drawingml/2006/main">
            <a:r>
              <a:t>cash_ml/service.py</a:t>
            </a:r>
          </a:p>
          <a:p xmlns:a="http://schemas.openxmlformats.org/drawingml/2006/main">
            <a:r>
              <a:t>outputs/case_review/execution_report.txt</a:t>
            </a:r>
          </a:p>
          <a:p xmlns:a="http://schemas.openxmlformats.org/drawingml/2006/main">
            <a:r>
              <a:t>deploy/temporary_public.py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У продукта два способа доступа. Оператор использует веб-интерфейс, а интеграционная система отправляет MOV через API и получает job_id. Затем она опрашивает статус и получает JSON с событиями. Мы предоставляем готовый программный интерфейс, но не заявляем уже выполненную интеграцию с внутренними системами банка.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cash_ml/api.py</a:t>
            </a:r>
          </a:p>
          <a:p xmlns:a="http://schemas.openxmlformats.org/drawingml/2006/main">
            <a:r>
              <a:t>backend/schemas.py</a:t>
            </a:r>
          </a:p>
          <a:p xmlns:a="http://schemas.openxmlformats.org/drawingml/2006/main">
            <a:r>
              <a:t>cash_ml/app.py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 приложении действительно подключена typed_v2. Предобученная R3D-18 Kinetics-400 извлекает визуальные признаки. Обученные линейные классификаторы формируют оценку подозрительности и тип события. Сервис объединяет соседние срабатывания одного типа и достаёт кадры по реальным координатам. Имена файлов, Excel и тексты описаний не подаются в качестве признаков нового видео.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cash_ml/features.py</a:t>
            </a:r>
          </a:p>
          <a:p xmlns:a="http://schemas.openxmlformats.org/drawingml/2006/main">
            <a:r>
              <a:t>cash_ml/service.py</a:t>
            </a:r>
          </a:p>
          <a:p xmlns:a="http://schemas.openxmlformats.org/drawingml/2006/main">
            <a:r>
              <a:t>models/cash_r3d/typed_report.json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 продукте сохранены очередь задач, авторизация, ограничения формата и размера, обработка ошибок и внутренний deadline 290 секунд с учётом очереди. Ошибка или тайм-аут возвращают failed. Реальные кадры и допустимые типы проверены техническими тестами. Эти проверки относятся к работоспособности сервиса, а не к гарантии точности классификации.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backend/jobs.py</a:t>
            </a:r>
          </a:p>
          <a:p xmlns:a="http://schemas.openxmlformats.org/drawingml/2006/main">
            <a:r>
              <a:t>cash_ml/api.py</a:t>
            </a:r>
          </a:p>
          <a:p xmlns:a="http://schemas.openxmlformats.org/drawingml/2006/main">
            <a:r>
              <a:t>backend/schemas.py</a:t>
            </a:r>
          </a:p>
          <a:p xmlns:a="http://schemas.openxmlformats.org/drawingml/2006/main">
            <a:r>
              <a:t>outputs/design_forte/public_verification.json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Для проверяющего ценность в собранном материале: тип события, время, изображения и подсказка для проверки. Руководитель получает единый формат отчёта. ИТ-команда получает локальный сервис и документированный API. Это доступные свойства решения, а не измеренное обещание сокращения затрат. Истинность срабатывания всегда подтверждается по записи.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cash_ml/service.py</a:t>
            </a:r>
          </a:p>
          <a:p xmlns:a="http://schemas.openxmlformats.org/drawingml/2006/main">
            <a:r>
              <a:t>cash_ml/app.py</a:t>
            </a:r>
          </a:p>
          <a:p xmlns:a="http://schemas.openxmlformats.org/drawingml/2006/main">
            <a:r>
              <a:t>backend/schemas.py</a:t>
            </a:r>
          </a:p>
          <a:p xmlns:a="http://schemas.openxmlformats.org/drawingml/2006/main">
            <a:r>
              <a:t>cash_ml/api.py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Текущая версия предоставляет полный пользовательский сценарий: загрузка MOV, локальный анализ и просмотр результата. Интерфейс адаптирован к телефону, планшету и компьютеру. Версия демонстрационная. Подтверждённой оценки качества на новых независимых записях нет, поэтому промышленное использование требует пилота, согласования критериев качества, правил и инфраструктуры. На момент подготовки локальное приложение и защищённый локальный шлюз доступны. Публичную временную ссылку не включаем: её DNS-проверка сейчас не прошла.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cash_ml/app.py</a:t>
            </a:r>
          </a:p>
          <a:p xmlns:a="http://schemas.openxmlformats.org/drawingml/2006/main">
            <a:r>
              <a:t>outputs/design_forte/verification.json</a:t>
            </a:r>
          </a:p>
          <a:p xmlns:a="http://schemas.openxmlformats.org/drawingml/2006/main">
            <a:r>
              <a:t>models/cash_r3d/typed_report.json</a:t>
            </a:r>
          </a:p>
          <a:p xmlns:a="http://schemas.openxmlformats.org/drawingml/2006/main">
            <a:r>
              <a:t>deploy/temporary_public.py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Предлагаем показать действующий сервис на выбранной заказчиком записи в формате MOV. На демонстрации можно пройти загрузку, посмотреть формат результата и обсудить удобство проверки. Следующий шаг к внедрению — ограниченный пилот с оператором и заранее согласованными критериями. Он нужен для подтверждения качества на новых камерах и записях. Ссылка открывает локальный интерфейс только на компьютере с запущенным сервисом. Постоянное размещение согласуется отдельно.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Источники: cash_ml/app.py</a:t>
            </a:r>
          </a:p>
          <a:p xmlns:a="http://schemas.openxmlformats.org/drawingml/2006/main">
            <a:r>
              <a:t>outputs/design_forte/verification.json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286ae03ab0471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393e29da124e7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be9e371499435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5bb134089e4eb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ea8586424c4a8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577a7d3ba648a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7C88D50-F6F7-4711-B315-2CC7664AA5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0359DEB-01CA-4CE5-B457-ADAC2C89DCE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0913C3B-F3AF-487A-BB2A-B2E7FAEB54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CC3B21A-D112-40B0-A858-259581B3A3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7F855A3-3CCA-4ABE-9361-040C9D489B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8C786BE-3854-4621-817C-B27453860D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9D93B21-BC5E-447A-94DA-A25CC29FF3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2B0567A-89B1-41BD-AC69-E98BC828408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62C5E4-EAE6-4429-B6FB-B953E5A034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D438C2C-1BDD-4164-A942-2A385AD2E1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2738e5174544780" /><Relationship Type="http://schemas.openxmlformats.org/officeDocument/2006/relationships/slideLayout" Target="/ppt/slideLayouts/slideLayout1.xml" Id="Rccc6008821f64afc" /><Relationship Type="http://schemas.openxmlformats.org/officeDocument/2006/relationships/slideLayout" Target="/ppt/slideLayouts/slideLayout2.xml" Id="R41d1970768ba4990" /><Relationship Type="http://schemas.openxmlformats.org/officeDocument/2006/relationships/slideLayout" Target="/ppt/slideLayouts/slideLayout3.xml" Id="R4fed1718fc6d4f5c" /><Relationship Type="http://schemas.openxmlformats.org/officeDocument/2006/relationships/slideLayout" Target="/ppt/slideLayouts/slideLayout4.xml" Id="R470b7e15c74f4838" /><Relationship Type="http://schemas.openxmlformats.org/officeDocument/2006/relationships/slideLayout" Target="/ppt/slideLayouts/slideLayout5.xml" Id="Rf72a7ed088074ec8" /><Relationship Type="http://schemas.openxmlformats.org/officeDocument/2006/relationships/slideLayout" Target="/ppt/slideLayouts/slideLayout6.xml" Id="R7b43661ac3804b6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cc6008821f64afc"/>
    <p:sldLayoutId xmlns:r="http://schemas.openxmlformats.org/officeDocument/2006/relationships" id="2147483650" r:id="R41d1970768ba4990"/>
    <p:sldLayoutId xmlns:r="http://schemas.openxmlformats.org/officeDocument/2006/relationships" id="2147483651" r:id="R4fed1718fc6d4f5c"/>
    <p:sldLayoutId xmlns:r="http://schemas.openxmlformats.org/officeDocument/2006/relationships" id="2147483652" r:id="R470b7e15c74f4838"/>
    <p:sldLayoutId xmlns:r="http://schemas.openxmlformats.org/officeDocument/2006/relationships" id="2147483653" r:id="Rf72a7ed088074ec8"/>
    <p:sldLayoutId xmlns:r="http://schemas.openxmlformats.org/officeDocument/2006/relationships" id="2147483654" r:id="R7b43661ac3804b6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1b9904c75f42c4" /><Relationship Type="http://schemas.openxmlformats.org/officeDocument/2006/relationships/image" Target="/ppt/media/image.png" Id="Rf20076d9e21b4cc0" /><Relationship Type="http://schemas.openxmlformats.org/officeDocument/2006/relationships/image" Target="/ppt/media/image.svg" Id="R6f97db9e6e224f46" /><Relationship Type="http://schemas.openxmlformats.org/officeDocument/2006/relationships/notesSlide" Target="/ppt/notesSlides/notesSlide1.xml" Id="Rab8d762c8cd442f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5d5dd9c36142ec" /><Relationship Type="http://schemas.openxmlformats.org/officeDocument/2006/relationships/notesSlide" Target="/ppt/notesSlides/notesSlide2.xml" Id="R3d6400407d784d9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06b378f6f94bcd" /><Relationship Type="http://schemas.openxmlformats.org/officeDocument/2006/relationships/image" Target="/ppt/media/image2.png" Id="R518b33f7052a4623" /><Relationship Type="http://schemas.openxmlformats.org/officeDocument/2006/relationships/notesSlide" Target="/ppt/notesSlides/notesSlide3.xml" Id="Rec1b9d49b5904e5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9c2feb94b1427b" /><Relationship Type="http://schemas.openxmlformats.org/officeDocument/2006/relationships/notesSlide" Target="/ppt/notesSlides/notesSlide4.xml" Id="R15892e6146684d0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bf04c02b6e4308" /><Relationship Type="http://schemas.openxmlformats.org/officeDocument/2006/relationships/notesSlide" Target="/ppt/notesSlides/notesSlide5.xml" Id="Rcc0d552fa2614e7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83ece0482f4c2e" /><Relationship Type="http://schemas.openxmlformats.org/officeDocument/2006/relationships/notesSlide" Target="/ppt/notesSlides/notesSlide6.xml" Id="Rb86397f6ae5f4c0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8bae96ab444e09" /><Relationship Type="http://schemas.openxmlformats.org/officeDocument/2006/relationships/notesSlide" Target="/ppt/notesSlides/notesSlide7.xml" Id="R470107820f91489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03a3888f2448bf" /><Relationship Type="http://schemas.openxmlformats.org/officeDocument/2006/relationships/notesSlide" Target="/ppt/notesSlides/notesSlide8.xml" Id="R8ad7e8f7c2c441a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dd182fb0924848" /><Relationship Type="http://schemas.openxmlformats.org/officeDocument/2006/relationships/notesSlide" Target="/ppt/notesSlides/notesSlide9.xml" Id="R50ec3b1ff23f487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dd091a8a594e59" /><Relationship Type="http://schemas.openxmlformats.org/officeDocument/2006/relationships/notesSlide" Target="/ppt/notesSlides/notesSlide10.xml" Id="R7fd2a0bcd8bf4a8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6b38e760ab43af" /><Relationship Type="http://schemas.openxmlformats.org/officeDocument/2006/relationships/image" Target="/ppt/media/image3.png" Id="R5106fcd66f274624" /><Relationship Type="http://schemas.openxmlformats.org/officeDocument/2006/relationships/notesSlide" Target="/ppt/notesSlides/notesSlide11.xml" Id="Rebeb6d25dfa1464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cbe82a94344cdb" /><Relationship Type="http://schemas.openxmlformats.org/officeDocument/2006/relationships/hyperlink" Target="http://127.0.0.1:8501/" TargetMode="External" Id="R0ffdba1e7ae64be1" /><Relationship Type="http://schemas.openxmlformats.org/officeDocument/2006/relationships/notesSlide" Target="/ppt/notesSlides/notesSlide12.xml" Id="R30f641bc2d7a407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01">
            <a:extLst xmlns:a="http://schemas.openxmlformats.org/drawingml/2006/main">
              <a:ext uri="{FF2B5EF4-FFF2-40B4-BE49-F238E27FC236}">
                <a16:creationId xmlns:a16="http://schemas.microsoft.com/office/drawing/2014/main" id="{6C5D4F44-D5FE-4A07-8CCF-B5F6B261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56873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0F9CBB-FC8E-448D-B9EB-D64F8683D7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076d9e21b4cc0">
            <a:extLst>
              <a:ext uri="{96DAC541-7B7A-43D3-8B79-37D633B846F1}">
                <asvg:svgBlip xmlns:asvg="http://schemas.microsoft.com/office/drawing/2016/SVG/main" r:embed="R6f97db9e6e224f4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09600" y="495300"/>
            <a:ext cx="1524000" cy="457200"/>
          </a:xfrm>
          <a:prstGeom xmlns:a="http://schemas.openxmlformats.org/drawingml/2006/main" prst="rect">
            <a:avLst/>
          </a:prstGeom>
        </p:spPr>
      </p:pic>
      <p:sp>
        <p:nvSpPr>
          <p:cNvPr id="3" name="ForteAI">
            <a:extLst xmlns:a="http://schemas.openxmlformats.org/drawingml/2006/main">
              <a:ext uri="{FF2B5EF4-FFF2-40B4-BE49-F238E27FC236}">
                <a16:creationId xmlns:a16="http://schemas.microsoft.com/office/drawing/2014/main" id="{8B38847C-3227-4B1D-B92E-94E7F89EA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763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6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defPPr>
            <a:lvl1pPr algn="l">
              <a:defRPr sz="76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1pPr>
            <a:lvl2pPr algn="l">
              <a:defRPr sz="76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2pPr>
            <a:lvl3pPr algn="l">
              <a:defRPr sz="76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3pPr>
            <a:lvl4pPr algn="l">
              <a:defRPr sz="76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4pPr>
            <a:lvl5pPr algn="l">
              <a:defRPr sz="76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5pPr>
            <a:lvl6pPr algn="l">
              <a:defRPr sz="76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6pPr>
            <a:lvl7pPr algn="l">
              <a:defRPr sz="76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7pPr>
            <a:lvl8pPr algn="l">
              <a:defRPr sz="76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8pPr>
            <a:lvl9pPr algn="l">
              <a:defRPr sz="76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6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pPr>
            <a:r>
              <a:rPr sz="7650" b="1">
                <a:solidFill>
                  <a:srgbClr val="4A0221"/>
                </a:solidFill>
                <a:latin typeface="Arial"/>
                <a:ea typeface="Arial"/>
                <a:cs typeface="Arial"/>
              </a:rPr>
              <a:t>ForteAI</a:t>
            </a:r>
          </a:p>
        </p:txBody>
      </p:sp>
      <p:sp>
        <p:nvSpPr>
          <p:cNvPr id="4" name="Cash Control">
            <a:extLst xmlns:a="http://schemas.openxmlformats.org/drawingml/2006/main">
              <a:ext uri="{FF2B5EF4-FFF2-40B4-BE49-F238E27FC236}">
                <a16:creationId xmlns:a16="http://schemas.microsoft.com/office/drawing/2014/main" id="{5BBAFE80-723D-495E-B5D9-732132C8C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105150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575" b="0">
                <a:solidFill>
                  <a:srgbClr val="A31551"/>
                </a:solidFill>
                <a:latin typeface="Arial"/>
                <a:ea typeface="Arial"/>
                <a:cs typeface="Arial"/>
              </a:defRPr>
            </a:defPPr>
            <a:lvl1pPr algn="l">
              <a:defRPr sz="4575" b="0">
                <a:solidFill>
                  <a:srgbClr val="A31551"/>
                </a:solidFill>
                <a:latin typeface="Arial"/>
                <a:ea typeface="Arial"/>
                <a:cs typeface="Arial"/>
              </a:defRPr>
            </a:lvl1pPr>
            <a:lvl2pPr algn="l">
              <a:defRPr sz="4575" b="0">
                <a:solidFill>
                  <a:srgbClr val="A31551"/>
                </a:solidFill>
                <a:latin typeface="Arial"/>
                <a:ea typeface="Arial"/>
                <a:cs typeface="Arial"/>
              </a:defRPr>
            </a:lvl2pPr>
            <a:lvl3pPr algn="l">
              <a:defRPr sz="4575" b="0">
                <a:solidFill>
                  <a:srgbClr val="A31551"/>
                </a:solidFill>
                <a:latin typeface="Arial"/>
                <a:ea typeface="Arial"/>
                <a:cs typeface="Arial"/>
              </a:defRPr>
            </a:lvl3pPr>
            <a:lvl4pPr algn="l">
              <a:defRPr sz="4575" b="0">
                <a:solidFill>
                  <a:srgbClr val="A31551"/>
                </a:solidFill>
                <a:latin typeface="Arial"/>
                <a:ea typeface="Arial"/>
                <a:cs typeface="Arial"/>
              </a:defRPr>
            </a:lvl4pPr>
            <a:lvl5pPr algn="l">
              <a:defRPr sz="4575" b="0">
                <a:solidFill>
                  <a:srgbClr val="A31551"/>
                </a:solidFill>
                <a:latin typeface="Arial"/>
                <a:ea typeface="Arial"/>
                <a:cs typeface="Arial"/>
              </a:defRPr>
            </a:lvl5pPr>
            <a:lvl6pPr algn="l">
              <a:defRPr sz="4575" b="0">
                <a:solidFill>
                  <a:srgbClr val="A31551"/>
                </a:solidFill>
                <a:latin typeface="Arial"/>
                <a:ea typeface="Arial"/>
                <a:cs typeface="Arial"/>
              </a:defRPr>
            </a:lvl6pPr>
            <a:lvl7pPr algn="l">
              <a:defRPr sz="4575" b="0">
                <a:solidFill>
                  <a:srgbClr val="A31551"/>
                </a:solidFill>
                <a:latin typeface="Arial"/>
                <a:ea typeface="Arial"/>
                <a:cs typeface="Arial"/>
              </a:defRPr>
            </a:lvl7pPr>
            <a:lvl8pPr algn="l">
              <a:defRPr sz="4575" b="0">
                <a:solidFill>
                  <a:srgbClr val="A31551"/>
                </a:solidFill>
                <a:latin typeface="Arial"/>
                <a:ea typeface="Arial"/>
                <a:cs typeface="Arial"/>
              </a:defRPr>
            </a:lvl8pPr>
            <a:lvl9pPr algn="l">
              <a:defRPr sz="4575" b="0">
                <a:solidFill>
                  <a:srgbClr val="A3155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575" b="0">
                <a:solidFill>
                  <a:srgbClr val="A31551"/>
                </a:solidFill>
                <a:latin typeface="Arial"/>
                <a:ea typeface="Arial"/>
                <a:cs typeface="Arial"/>
              </a:defRPr>
            </a:pPr>
            <a:r>
              <a:rPr sz="4575" b="0">
                <a:solidFill>
                  <a:srgbClr val="A31551"/>
                </a:solidFill>
                <a:latin typeface="Arial"/>
                <a:ea typeface="Arial"/>
                <a:cs typeface="Arial"/>
              </a:rPr>
              <a:t>Cash Control</a:t>
            </a:r>
          </a:p>
        </p:txBody>
      </p:sp>
      <p:sp>
        <p:nvSpPr>
          <p:cNvPr id="5" name="Фрагменты кассовых операций&#10;для проверки в одном отчёте">
            <a:extLst xmlns:a="http://schemas.openxmlformats.org/drawingml/2006/main">
              <a:ext uri="{FF2B5EF4-FFF2-40B4-BE49-F238E27FC236}">
                <a16:creationId xmlns:a16="http://schemas.microsoft.com/office/drawing/2014/main" id="{E82862BC-6392-4683-AA02-0E33E2444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38650"/>
            <a:ext cx="1081087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3000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3000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3000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3000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3000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3000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3000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3000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3000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000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Фрагменты кассовых операций</a:t>
            </a:r>
          </a:p>
          <a:p xmlns:a="http://schemas.openxmlformats.org/drawingml/2006/main">
            <a:pPr algn="l">
              <a:defRPr sz="3000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для проверки в одном отчёте</a:t>
            </a:r>
          </a:p>
        </p:txBody>
      </p:sp>
      <p:sp>
        <p:nvSpPr>
          <p:cNvPr id="6" name="Локальная видеоаналитика для команды контроля">
            <a:extLst xmlns:a="http://schemas.openxmlformats.org/drawingml/2006/main">
              <a:ext uri="{FF2B5EF4-FFF2-40B4-BE49-F238E27FC236}">
                <a16:creationId xmlns:a16="http://schemas.microsoft.com/office/drawing/2014/main" id="{5FDDE2BC-8A00-4DEA-905D-572EC3A0F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86475"/>
            <a:ext cx="1009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756873"/>
                </a:solidFill>
                <a:latin typeface="Arial"/>
                <a:ea typeface="Arial"/>
                <a:cs typeface="Arial"/>
              </a:rPr>
              <a:t>Локальная видеоаналитика для команды контроля</a:t>
            </a:r>
          </a:p>
        </p:txBody>
      </p:sp>
    </p:spTree>
    <p:extLst>
      <p:ext uri="{BB962C8B-B14F-4D97-AF65-F5344CB8AC3E}">
        <p14:creationId xmlns:p14="http://schemas.microsoft.com/office/powerpoint/2010/main" val="7146717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Проверка начинается с нужного момента">
            <a:extLst xmlns:a="http://schemas.openxmlformats.org/drawingml/2006/main">
              <a:ext uri="{FF2B5EF4-FFF2-40B4-BE49-F238E27FC236}">
                <a16:creationId xmlns:a16="http://schemas.microsoft.com/office/drawing/2014/main" id="{F8A33043-1B42-4CE4-B68C-084057F5A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4A0221"/>
                </a:solidFill>
                <a:latin typeface="Arial"/>
                <a:ea typeface="Arial"/>
                <a:cs typeface="Arial"/>
              </a:rPr>
              <a:t>Проверка начинается с нужного момента</a:t>
            </a:r>
          </a:p>
        </p:txBody>
      </p:sp>
      <p:sp>
        <p:nvSpPr>
          <p:cNvPr id="2" name="02">
            <a:extLst xmlns:a="http://schemas.openxmlformats.org/drawingml/2006/main">
              <a:ext uri="{FF2B5EF4-FFF2-40B4-BE49-F238E27FC236}">
                <a16:creationId xmlns:a16="http://schemas.microsoft.com/office/drawing/2014/main" id="{448DF633-8F00-4BF5-8A64-8FABC39C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568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Где искать событие&#10;в полной записи?">
            <a:extLst xmlns:a="http://schemas.openxmlformats.org/drawingml/2006/main">
              <a:ext uri="{FF2B5EF4-FFF2-40B4-BE49-F238E27FC236}">
                <a16:creationId xmlns:a16="http://schemas.microsoft.com/office/drawing/2014/main" id="{B95D919F-1B6C-492E-BB45-70A6FC5CC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810875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6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defPPr>
            <a:lvl1pPr algn="l">
              <a:defRPr sz="46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1pPr>
            <a:lvl2pPr algn="l">
              <a:defRPr sz="46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2pPr>
            <a:lvl3pPr algn="l">
              <a:defRPr sz="46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3pPr>
            <a:lvl4pPr algn="l">
              <a:defRPr sz="46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4pPr>
            <a:lvl5pPr algn="l">
              <a:defRPr sz="46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5pPr>
            <a:lvl6pPr algn="l">
              <a:defRPr sz="46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6pPr>
            <a:lvl7pPr algn="l">
              <a:defRPr sz="46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7pPr>
            <a:lvl8pPr algn="l">
              <a:defRPr sz="46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8pPr>
            <a:lvl9pPr algn="l">
              <a:defRPr sz="46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6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4A0221"/>
                </a:solidFill>
                <a:latin typeface="Arial"/>
                <a:ea typeface="Arial"/>
                <a:cs typeface="Arial"/>
              </a:rPr>
              <a:t>Где искать событие</a:t>
            </a:r>
          </a:p>
          <a:p xmlns:a="http://schemas.openxmlformats.org/drawingml/2006/main">
            <a:pPr algn="l">
              <a:defRPr sz="46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4A0221"/>
                </a:solidFill>
                <a:latin typeface="Arial"/>
                <a:ea typeface="Arial"/>
                <a:cs typeface="Arial"/>
              </a:rPr>
              <a:t>в полной записи?</a:t>
            </a:r>
          </a:p>
        </p:txBody>
      </p:sp>
      <p:sp>
        <p:nvSpPr>
          <p:cNvPr id="4" name="Сегодняшняя задача">
            <a:extLst xmlns:a="http://schemas.openxmlformats.org/drawingml/2006/main">
              <a:ext uri="{FF2B5EF4-FFF2-40B4-BE49-F238E27FC236}">
                <a16:creationId xmlns:a16="http://schemas.microsoft.com/office/drawing/2014/main" id="{9E75F8D5-509B-41AF-9073-F4BAA77F7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048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31551"/>
                </a:solidFill>
                <a:latin typeface="Arial"/>
                <a:ea typeface="Arial"/>
                <a:cs typeface="Arial"/>
              </a:rPr>
              <a:t>Сегодняшняя задача</a:t>
            </a:r>
          </a:p>
        </p:txBody>
      </p:sp>
      <p:sp>
        <p:nvSpPr>
          <p:cNvPr id="5" name="Найти нужный момент и разобраться, что происходило на видео.">
            <a:extLst xmlns:a="http://schemas.openxmlformats.org/drawingml/2006/main">
              <a:ext uri="{FF2B5EF4-FFF2-40B4-BE49-F238E27FC236}">
                <a16:creationId xmlns:a16="http://schemas.microsoft.com/office/drawing/2014/main" id="{6CBBBAF1-B66B-41ED-AD73-3834E87EA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5048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Найти нужный момент и разобраться, что происходило на видео.</a:t>
            </a:r>
          </a:p>
        </p:txBody>
      </p:sp>
      <p:sp>
        <p:nvSpPr>
          <p:cNvPr id="6" name="Предложение ForteAI">
            <a:extLst xmlns:a="http://schemas.openxmlformats.org/drawingml/2006/main">
              <a:ext uri="{FF2B5EF4-FFF2-40B4-BE49-F238E27FC236}">
                <a16:creationId xmlns:a16="http://schemas.microsoft.com/office/drawing/2014/main" id="{7C9CFA1C-3968-4848-AB4A-0C3A55A5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14800"/>
            <a:ext cx="5095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31551"/>
                </a:solidFill>
                <a:latin typeface="Arial"/>
                <a:ea typeface="Arial"/>
                <a:cs typeface="Arial"/>
              </a:rPr>
              <a:t>Предложение ForteAI</a:t>
            </a:r>
          </a:p>
        </p:txBody>
      </p:sp>
      <p:sp>
        <p:nvSpPr>
          <p:cNvPr id="7" name="Получить список фрагментов с кадрами и таймкодами для проверки.">
            <a:extLst xmlns:a="http://schemas.openxmlformats.org/drawingml/2006/main">
              <a:ext uri="{FF2B5EF4-FFF2-40B4-BE49-F238E27FC236}">
                <a16:creationId xmlns:a16="http://schemas.microsoft.com/office/drawing/2014/main" id="{68F24609-6169-44D7-AA82-3444F2059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800600"/>
            <a:ext cx="5095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Получить список фрагментов с кадрами и таймкодами для проверки.</a:t>
            </a:r>
          </a:p>
        </p:txBody>
      </p:sp>
    </p:spTree>
    <p:extLst>
      <p:ext uri="{BB962C8B-B14F-4D97-AF65-F5344CB8AC3E}">
        <p14:creationId xmlns:p14="http://schemas.microsoft.com/office/powerpoint/2010/main" val="14605749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Проверка видео в понятном интерфейсе">
            <a:extLst xmlns:a="http://schemas.openxmlformats.org/drawingml/2006/main">
              <a:ext uri="{FF2B5EF4-FFF2-40B4-BE49-F238E27FC236}">
                <a16:creationId xmlns:a16="http://schemas.microsoft.com/office/drawing/2014/main" id="{29E837FC-1E8C-4C3A-9AEE-3B3057C11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4A0221"/>
                </a:solidFill>
                <a:latin typeface="Arial"/>
                <a:ea typeface="Arial"/>
                <a:cs typeface="Arial"/>
              </a:rPr>
              <a:t>Проверка видео в понятном интерфейсе</a:t>
            </a:r>
          </a:p>
        </p:txBody>
      </p:sp>
      <p:sp>
        <p:nvSpPr>
          <p:cNvPr id="2" name="03">
            <a:extLst xmlns:a="http://schemas.openxmlformats.org/drawingml/2006/main">
              <a:ext uri="{FF2B5EF4-FFF2-40B4-BE49-F238E27FC236}">
                <a16:creationId xmlns:a16="http://schemas.microsoft.com/office/drawing/2014/main" id="{F10B615B-2758-4F76-9527-F6978FE8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568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.MOV">
            <a:extLst xmlns:a="http://schemas.openxmlformats.org/drawingml/2006/main">
              <a:ext uri="{FF2B5EF4-FFF2-40B4-BE49-F238E27FC236}">
                <a16:creationId xmlns:a16="http://schemas.microsoft.com/office/drawing/2014/main" id="{59F3C471-1F02-40DD-B5C8-C3308DD3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61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defPPr>
            <a:lvl1pPr algn="l">
              <a:defRPr sz="6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1pPr>
            <a:lvl2pPr algn="l">
              <a:defRPr sz="6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2pPr>
            <a:lvl3pPr algn="l">
              <a:defRPr sz="6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3pPr>
            <a:lvl4pPr algn="l">
              <a:defRPr sz="6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4pPr>
            <a:lvl5pPr algn="l">
              <a:defRPr sz="6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5pPr>
            <a:lvl6pPr algn="l">
              <a:defRPr sz="6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6pPr>
            <a:lvl7pPr algn="l">
              <a:defRPr sz="6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7pPr>
            <a:lvl8pPr algn="l">
              <a:defRPr sz="6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8pPr>
            <a:lvl9pPr algn="l">
              <a:defRPr sz="6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pPr>
            <a:r>
              <a:rPr sz="6225" b="1">
                <a:solidFill>
                  <a:srgbClr val="A31551"/>
                </a:solidFill>
                <a:latin typeface="Arial"/>
                <a:ea typeface="Arial"/>
                <a:cs typeface="Arial"/>
              </a:rPr>
              <a:t>.MOV</a:t>
            </a:r>
          </a:p>
        </p:txBody>
      </p:sp>
      <p:sp>
        <p:nvSpPr>
          <p:cNvPr id="4" name="Одна загрузка&#10;запускает проверку">
            <a:extLst xmlns:a="http://schemas.openxmlformats.org/drawingml/2006/main">
              <a:ext uri="{FF2B5EF4-FFF2-40B4-BE49-F238E27FC236}">
                <a16:creationId xmlns:a16="http://schemas.microsoft.com/office/drawing/2014/main" id="{70269772-DBA1-446D-9101-47EE22E31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33813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defPPr>
            <a:lvl1pPr algn="l">
              <a:defRPr sz="262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1pPr>
            <a:lvl2pPr algn="l">
              <a:defRPr sz="262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2pPr>
            <a:lvl3pPr algn="l">
              <a:defRPr sz="262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3pPr>
            <a:lvl4pPr algn="l">
              <a:defRPr sz="262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4pPr>
            <a:lvl5pPr algn="l">
              <a:defRPr sz="262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5pPr>
            <a:lvl6pPr algn="l">
              <a:defRPr sz="262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6pPr>
            <a:lvl7pPr algn="l">
              <a:defRPr sz="262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7pPr>
            <a:lvl8pPr algn="l">
              <a:defRPr sz="262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8pPr>
            <a:lvl9pPr algn="l">
              <a:defRPr sz="262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4A0221"/>
                </a:solidFill>
                <a:latin typeface="Arial"/>
                <a:ea typeface="Arial"/>
                <a:cs typeface="Arial"/>
              </a:rPr>
              <a:t>Одна загрузка</a:t>
            </a:r>
          </a:p>
          <a:p xmlns:a="http://schemas.openxmlformats.org/drawingml/2006/main">
            <a:pPr algn="l">
              <a:defRPr sz="262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4A0221"/>
                </a:solidFill>
                <a:latin typeface="Arial"/>
                <a:ea typeface="Arial"/>
                <a:cs typeface="Arial"/>
              </a:rPr>
              <a:t>запускает проверку</a:t>
            </a:r>
          </a:p>
        </p:txBody>
      </p:sp>
      <p:sp>
        <p:nvSpPr>
          <p:cNvPr id="5" name="Статус обработки&#10;и готовый отчёт&#10;в том же окне">
            <a:extLst xmlns:a="http://schemas.openxmlformats.org/drawingml/2006/main">
              <a:ext uri="{FF2B5EF4-FFF2-40B4-BE49-F238E27FC236}">
                <a16:creationId xmlns:a16="http://schemas.microsoft.com/office/drawing/2014/main" id="{3E22B8FC-ECC0-4CCE-ACFE-A703E83A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3429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Статус обработки</a:t>
            </a:r>
          </a:p>
          <a:p xmlns:a="http://schemas.openxmlformats.org/drawingml/2006/main">
            <a: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и готовый отчёт</a:t>
            </a:r>
          </a:p>
          <a:p xmlns:a="http://schemas.openxmlformats.org/drawingml/2006/main">
            <a: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в том же окне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0DFAB1-0E0E-41D0-8F9C-F4708E5F16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8b33f7052a4623"/>
          <a:stretch xmlns:a="http://schemas.openxmlformats.org/drawingml/2006/main"/>
        </p:blipFill>
        <p:spPr>
          <a:xfrm xmlns:a="http://schemas.openxmlformats.org/drawingml/2006/main">
            <a:off x="4417505" y="1476375"/>
            <a:ext cx="7214616" cy="50101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1153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Результат, который можно проверить по записи">
            <a:extLst xmlns:a="http://schemas.openxmlformats.org/drawingml/2006/main">
              <a:ext uri="{FF2B5EF4-FFF2-40B4-BE49-F238E27FC236}">
                <a16:creationId xmlns:a16="http://schemas.microsoft.com/office/drawing/2014/main" id="{81396CDB-0D05-432C-B180-928F4EF17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4A0221"/>
                </a:solidFill>
                <a:latin typeface="Arial"/>
                <a:ea typeface="Arial"/>
                <a:cs typeface="Arial"/>
              </a:rPr>
              <a:t>Результат, который можно проверить по записи</a:t>
            </a:r>
          </a:p>
        </p:txBody>
      </p:sp>
      <p:sp>
        <p:nvSpPr>
          <p:cNvPr id="2" name="04">
            <a:extLst xmlns:a="http://schemas.openxmlformats.org/drawingml/2006/main">
              <a:ext uri="{FF2B5EF4-FFF2-40B4-BE49-F238E27FC236}">
                <a16:creationId xmlns:a16="http://schemas.microsoft.com/office/drawing/2014/main" id="{4C1E100C-E5A8-4136-95D3-65F1563D6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5687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1–3">
            <a:extLst xmlns:a="http://schemas.openxmlformats.org/drawingml/2006/main">
              <a:ext uri="{FF2B5EF4-FFF2-40B4-BE49-F238E27FC236}">
                <a16:creationId xmlns:a16="http://schemas.microsoft.com/office/drawing/2014/main" id="{B0A8FE11-AD03-4C16-8485-BA6FD8FB5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0225"/>
            <a:ext cx="409575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3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defPPr>
            <a:lvl1pPr algn="l">
              <a:defRPr sz="73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1pPr>
            <a:lvl2pPr algn="l">
              <a:defRPr sz="73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2pPr>
            <a:lvl3pPr algn="l">
              <a:defRPr sz="73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3pPr>
            <a:lvl4pPr algn="l">
              <a:defRPr sz="73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4pPr>
            <a:lvl5pPr algn="l">
              <a:defRPr sz="73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5pPr>
            <a:lvl6pPr algn="l">
              <a:defRPr sz="73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6pPr>
            <a:lvl7pPr algn="l">
              <a:defRPr sz="73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7pPr>
            <a:lvl8pPr algn="l">
              <a:defRPr sz="73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8pPr>
            <a:lvl9pPr algn="l">
              <a:defRPr sz="73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3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pPr>
            <a:r>
              <a:rPr sz="7350" b="1">
                <a:solidFill>
                  <a:srgbClr val="A31551"/>
                </a:solidFill>
                <a:latin typeface="Arial"/>
                <a:ea typeface="Arial"/>
                <a:cs typeface="Arial"/>
              </a:rPr>
              <a:t>1–3</a:t>
            </a:r>
          </a:p>
        </p:txBody>
      </p:sp>
      <p:sp>
        <p:nvSpPr>
          <p:cNvPr id="4" name="реальных кадра&#10;на каждое событие">
            <a:extLst xmlns:a="http://schemas.openxmlformats.org/drawingml/2006/main">
              <a:ext uri="{FF2B5EF4-FFF2-40B4-BE49-F238E27FC236}">
                <a16:creationId xmlns:a16="http://schemas.microsoft.com/office/drawing/2014/main" id="{A59A0C44-39FF-406F-A26B-90D8EA84C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45243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4A0221"/>
                </a:solidFill>
                <a:latin typeface="Arial"/>
                <a:ea typeface="Arial"/>
                <a:cs typeface="Arial"/>
              </a:rPr>
              <a:t>реальных кадра</a:t>
            </a:r>
          </a:p>
          <a:p xmlns:a="http://schemas.openxmlformats.org/drawingml/2006/main">
            <a:pPr algn="l">
              <a:defRPr sz="285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4A0221"/>
                </a:solidFill>
                <a:latin typeface="Arial"/>
                <a:ea typeface="Arial"/>
                <a:cs typeface="Arial"/>
              </a:rPr>
              <a:t>на каждое событие</a:t>
            </a:r>
          </a:p>
        </p:txBody>
      </p:sp>
      <p:sp>
        <p:nvSpPr>
          <p:cNvPr id="5" name="Таймкод">
            <a:extLst xmlns:a="http://schemas.openxmlformats.org/drawingml/2006/main">
              <a:ext uri="{FF2B5EF4-FFF2-40B4-BE49-F238E27FC236}">
                <a16:creationId xmlns:a16="http://schemas.microsoft.com/office/drawing/2014/main" id="{8780C63A-E567-4070-BEA0-26DDED1F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762125"/>
            <a:ext cx="523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31551"/>
                </a:solidFill>
                <a:latin typeface="Arial"/>
                <a:ea typeface="Arial"/>
                <a:cs typeface="Arial"/>
              </a:rPr>
              <a:t>Таймкод</a:t>
            </a:r>
          </a:p>
        </p:txBody>
      </p:sp>
      <p:sp>
        <p:nvSpPr>
          <p:cNvPr id="6" name="Момент в загруженной записи">
            <a:extLst xmlns:a="http://schemas.openxmlformats.org/drawingml/2006/main">
              <a:ext uri="{FF2B5EF4-FFF2-40B4-BE49-F238E27FC236}">
                <a16:creationId xmlns:a16="http://schemas.microsoft.com/office/drawing/2014/main" id="{CD1F16F7-F68E-43BC-A19F-64FA3DA7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219325"/>
            <a:ext cx="5286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Момент в загруженной записи</a:t>
            </a:r>
          </a:p>
        </p:txBody>
      </p:sp>
      <p:sp>
        <p:nvSpPr>
          <p:cNvPr id="7" name="Тип события">
            <a:extLst xmlns:a="http://schemas.openxmlformats.org/drawingml/2006/main">
              <a:ext uri="{FF2B5EF4-FFF2-40B4-BE49-F238E27FC236}">
                <a16:creationId xmlns:a16="http://schemas.microsoft.com/office/drawing/2014/main" id="{C601E3B2-ABA6-41B3-A430-EB223FF56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743200"/>
            <a:ext cx="523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31551"/>
                </a:solidFill>
                <a:latin typeface="Arial"/>
                <a:ea typeface="Arial"/>
                <a:cs typeface="Arial"/>
              </a:rPr>
              <a:t>Тип события</a:t>
            </a:r>
          </a:p>
        </p:txBody>
      </p:sp>
      <p:sp>
        <p:nvSpPr>
          <p:cNvPr id="8" name="Единый словарь для отчёта">
            <a:extLst xmlns:a="http://schemas.openxmlformats.org/drawingml/2006/main">
              <a:ext uri="{FF2B5EF4-FFF2-40B4-BE49-F238E27FC236}">
                <a16:creationId xmlns:a16="http://schemas.microsoft.com/office/drawing/2014/main" id="{924E7C8E-B64B-4001-BD17-410180C72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200400"/>
            <a:ext cx="5286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Единый словарь для отчёта</a:t>
            </a:r>
          </a:p>
        </p:txBody>
      </p:sp>
      <p:sp>
        <p:nvSpPr>
          <p:cNvPr id="9" name="Пояснение">
            <a:extLst xmlns:a="http://schemas.openxmlformats.org/drawingml/2006/main">
              <a:ext uri="{FF2B5EF4-FFF2-40B4-BE49-F238E27FC236}">
                <a16:creationId xmlns:a16="http://schemas.microsoft.com/office/drawing/2014/main" id="{5435F100-E1E2-447A-9133-E414BDCBF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24275"/>
            <a:ext cx="523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31551"/>
                </a:solidFill>
                <a:latin typeface="Arial"/>
                <a:ea typeface="Arial"/>
                <a:cs typeface="Arial"/>
              </a:rPr>
              <a:t>Пояснение</a:t>
            </a:r>
          </a:p>
        </p:txBody>
      </p:sp>
      <p:sp>
        <p:nvSpPr>
          <p:cNvPr id="10" name="Что проверить по видео">
            <a:extLst xmlns:a="http://schemas.openxmlformats.org/drawingml/2006/main">
              <a:ext uri="{FF2B5EF4-FFF2-40B4-BE49-F238E27FC236}">
                <a16:creationId xmlns:a16="http://schemas.microsoft.com/office/drawing/2014/main" id="{E7B3D1ED-0A72-40DA-9619-4C055B0F5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181475"/>
            <a:ext cx="5286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Что проверить по видео</a:t>
            </a:r>
          </a:p>
        </p:txBody>
      </p:sp>
      <p:sp>
        <p:nvSpPr>
          <p:cNvPr id="11" name="Справка">
            <a:extLst xmlns:a="http://schemas.openxmlformats.org/drawingml/2006/main">
              <a:ext uri="{FF2B5EF4-FFF2-40B4-BE49-F238E27FC236}">
                <a16:creationId xmlns:a16="http://schemas.microsoft.com/office/drawing/2014/main" id="{27901B18-BBDD-4EE3-9B4E-A2E392CE9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705350"/>
            <a:ext cx="523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31551"/>
                </a:solidFill>
                <a:latin typeface="Arial"/>
                <a:ea typeface="Arial"/>
                <a:cs typeface="Arial"/>
              </a:rPr>
              <a:t>Справка</a:t>
            </a:r>
          </a:p>
        </p:txBody>
      </p:sp>
      <p:sp>
        <p:nvSpPr>
          <p:cNvPr id="12" name="Связь с правилом, где она установлена">
            <a:extLst xmlns:a="http://schemas.openxmlformats.org/drawingml/2006/main">
              <a:ext uri="{FF2B5EF4-FFF2-40B4-BE49-F238E27FC236}">
                <a16:creationId xmlns:a16="http://schemas.microsoft.com/office/drawing/2014/main" id="{6B5CF743-F20A-42F8-816E-E9163F60A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5162550"/>
            <a:ext cx="5286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Связь с правилом, где она установлена</a:t>
            </a:r>
          </a:p>
        </p:txBody>
      </p:sp>
      <p:sp>
        <p:nvSpPr>
          <p:cNvPr id="13" name="Вывод модели служит подсказкой. Фактические действия и применимость но">
            <a:extLst xmlns:a="http://schemas.openxmlformats.org/drawingml/2006/main">
              <a:ext uri="{FF2B5EF4-FFF2-40B4-BE49-F238E27FC236}">
                <a16:creationId xmlns:a16="http://schemas.microsoft.com/office/drawing/2014/main" id="{C67B95E4-A484-4AEC-8CAF-B630C46FD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56873"/>
                </a:solidFill>
                <a:latin typeface="Arial"/>
                <a:ea typeface="Arial"/>
                <a:cs typeface="Arial"/>
              </a:rPr>
              <a:t>Вывод модели служит подсказкой. Фактические действия и применимость нормы проверяет оператор.</a:t>
            </a:r>
          </a:p>
        </p:txBody>
      </p:sp>
    </p:spTree>
    <p:extLst>
      <p:ext uri="{BB962C8B-B14F-4D97-AF65-F5344CB8AC3E}">
        <p14:creationId xmlns:p14="http://schemas.microsoft.com/office/powerpoint/2010/main" val="7083432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11 типов для проверки кассовой дисциплины">
            <a:extLst xmlns:a="http://schemas.openxmlformats.org/drawingml/2006/main">
              <a:ext uri="{FF2B5EF4-FFF2-40B4-BE49-F238E27FC236}">
                <a16:creationId xmlns:a16="http://schemas.microsoft.com/office/drawing/2014/main" id="{8633FAB0-CE73-48AD-8616-D0DECEAA0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4A0221"/>
                </a:solidFill>
                <a:latin typeface="Arial"/>
                <a:ea typeface="Arial"/>
                <a:cs typeface="Arial"/>
              </a:rPr>
              <a:t>11 типов для проверки кассовой дисциплины</a:t>
            </a:r>
          </a:p>
        </p:txBody>
      </p:sp>
      <p:sp>
        <p:nvSpPr>
          <p:cNvPr id="2" name="05">
            <a:extLst xmlns:a="http://schemas.openxmlformats.org/drawingml/2006/main">
              <a:ext uri="{FF2B5EF4-FFF2-40B4-BE49-F238E27FC236}">
                <a16:creationId xmlns:a16="http://schemas.microsoft.com/office/drawing/2014/main" id="{7A0E6650-D65F-496E-A3B1-4879DD7C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5687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Работа с деньгами">
            <a:extLst xmlns:a="http://schemas.openxmlformats.org/drawingml/2006/main">
              <a:ext uri="{FF2B5EF4-FFF2-40B4-BE49-F238E27FC236}">
                <a16:creationId xmlns:a16="http://schemas.microsoft.com/office/drawing/2014/main" id="{7252BB83-B495-46A4-8818-83EFE982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31551"/>
                </a:solidFill>
                <a:latin typeface="Arial"/>
                <a:ea typeface="Arial"/>
                <a:cs typeface="Arial"/>
              </a:rPr>
              <a:t>Работа с деньгами</a:t>
            </a:r>
          </a:p>
        </p:txBody>
      </p:sp>
      <p:sp>
        <p:nvSpPr>
          <p:cNvPr id="4" name="Деньги без присмотра">
            <a:extLst xmlns:a="http://schemas.openxmlformats.org/drawingml/2006/main">
              <a:ext uri="{FF2B5EF4-FFF2-40B4-BE49-F238E27FC236}">
                <a16:creationId xmlns:a16="http://schemas.microsoft.com/office/drawing/2014/main" id="{567AC76B-8306-450E-9721-B48D6B0A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338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Деньги без присмотра</a:t>
            </a:r>
          </a:p>
        </p:txBody>
      </p:sp>
      <p:sp>
        <p:nvSpPr>
          <p:cNvPr id="5" name="Приём до проверки">
            <a:extLst xmlns:a="http://schemas.openxmlformats.org/drawingml/2006/main">
              <a:ext uri="{FF2B5EF4-FFF2-40B4-BE49-F238E27FC236}">
                <a16:creationId xmlns:a16="http://schemas.microsoft.com/office/drawing/2014/main" id="{F2451606-6D61-4DE9-9875-3416A113D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338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Приём до проверки</a:t>
            </a:r>
          </a:p>
        </p:txBody>
      </p:sp>
      <p:sp>
        <p:nvSpPr>
          <p:cNvPr id="6" name="Смешивание денег">
            <a:extLst xmlns:a="http://schemas.openxmlformats.org/drawingml/2006/main">
              <a:ext uri="{FF2B5EF4-FFF2-40B4-BE49-F238E27FC236}">
                <a16:creationId xmlns:a16="http://schemas.microsoft.com/office/drawing/2014/main" id="{B92368A0-6C3C-4F78-A28C-9A79FBBE2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338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Смешивание денег</a:t>
            </a:r>
          </a:p>
        </p:txBody>
      </p:sp>
      <p:sp>
        <p:nvSpPr>
          <p:cNvPr id="7" name="Передача денег">
            <a:extLst xmlns:a="http://schemas.openxmlformats.org/drawingml/2006/main">
              <a:ext uri="{FF2B5EF4-FFF2-40B4-BE49-F238E27FC236}">
                <a16:creationId xmlns:a16="http://schemas.microsoft.com/office/drawing/2014/main" id="{1ABE8207-52B4-4BD3-86DB-064143FCF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338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Передача денег</a:t>
            </a:r>
          </a:p>
        </p:txBody>
      </p:sp>
      <p:sp>
        <p:nvSpPr>
          <p:cNvPr id="8" name="Пересечение операций">
            <a:extLst xmlns:a="http://schemas.openxmlformats.org/drawingml/2006/main">
              <a:ext uri="{FF2B5EF4-FFF2-40B4-BE49-F238E27FC236}">
                <a16:creationId xmlns:a16="http://schemas.microsoft.com/office/drawing/2014/main" id="{3BF3D126-BB77-44AA-BBD3-4A727FEA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338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Пересечение операций</a:t>
            </a:r>
          </a:p>
        </p:txBody>
      </p:sp>
      <p:sp>
        <p:nvSpPr>
          <p:cNvPr id="9" name="Кассовая зона">
            <a:extLst xmlns:a="http://schemas.openxmlformats.org/drawingml/2006/main">
              <a:ext uri="{FF2B5EF4-FFF2-40B4-BE49-F238E27FC236}">
                <a16:creationId xmlns:a16="http://schemas.microsoft.com/office/drawing/2014/main" id="{D5E0B6B4-C569-4666-93B5-63209F77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83832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31551"/>
                </a:solidFill>
                <a:latin typeface="Arial"/>
                <a:ea typeface="Arial"/>
                <a:cs typeface="Arial"/>
              </a:rPr>
              <a:t>Кассовая зона</a:t>
            </a:r>
          </a:p>
        </p:txBody>
      </p:sp>
      <p:sp>
        <p:nvSpPr>
          <p:cNvPr id="10" name="Открытая дверь">
            <a:extLst xmlns:a="http://schemas.openxmlformats.org/drawingml/2006/main">
              <a:ext uri="{FF2B5EF4-FFF2-40B4-BE49-F238E27FC236}">
                <a16:creationId xmlns:a16="http://schemas.microsoft.com/office/drawing/2014/main" id="{55E8D78B-815D-4ABA-8D1C-AB1379B0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838450"/>
            <a:ext cx="338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Открытая дверь</a:t>
            </a:r>
          </a:p>
        </p:txBody>
      </p:sp>
      <p:sp>
        <p:nvSpPr>
          <p:cNvPr id="11" name="Открытый сейф">
            <a:extLst xmlns:a="http://schemas.openxmlformats.org/drawingml/2006/main">
              <a:ext uri="{FF2B5EF4-FFF2-40B4-BE49-F238E27FC236}">
                <a16:creationId xmlns:a16="http://schemas.microsoft.com/office/drawing/2014/main" id="{BFF2DE25-F88B-4E9E-AE4A-AE774B3E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390900"/>
            <a:ext cx="338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Открытый сейф</a:t>
            </a:r>
          </a:p>
        </p:txBody>
      </p:sp>
      <p:sp>
        <p:nvSpPr>
          <p:cNvPr id="12" name="Ключ в замке">
            <a:extLst xmlns:a="http://schemas.openxmlformats.org/drawingml/2006/main">
              <a:ext uri="{FF2B5EF4-FFF2-40B4-BE49-F238E27FC236}">
                <a16:creationId xmlns:a16="http://schemas.microsoft.com/office/drawing/2014/main" id="{2039C4A7-F466-412A-9020-381805948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43350"/>
            <a:ext cx="338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Ключ в замке</a:t>
            </a:r>
          </a:p>
        </p:txBody>
      </p:sp>
      <p:sp>
        <p:nvSpPr>
          <p:cNvPr id="13" name="Доступ требует проверки">
            <a:extLst xmlns:a="http://schemas.openxmlformats.org/drawingml/2006/main">
              <a:ext uri="{FF2B5EF4-FFF2-40B4-BE49-F238E27FC236}">
                <a16:creationId xmlns:a16="http://schemas.microsoft.com/office/drawing/2014/main" id="{38E9BACC-3028-4F5B-A933-27D8A149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495800"/>
            <a:ext cx="3381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Доступ требует проверки</a:t>
            </a:r>
          </a:p>
        </p:txBody>
      </p:sp>
      <p:sp>
        <p:nvSpPr>
          <p:cNvPr id="14" name="Другие события">
            <a:extLst xmlns:a="http://schemas.openxmlformats.org/drawingml/2006/main">
              <a:ext uri="{FF2B5EF4-FFF2-40B4-BE49-F238E27FC236}">
                <a16:creationId xmlns:a16="http://schemas.microsoft.com/office/drawing/2014/main" id="{2872B04B-AD61-479F-8D16-07356CA3D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183832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31551"/>
                </a:solidFill>
                <a:latin typeface="Arial"/>
                <a:ea typeface="Arial"/>
                <a:cs typeface="Arial"/>
              </a:rPr>
              <a:t>Другие события</a:t>
            </a:r>
          </a:p>
        </p:txBody>
      </p:sp>
      <p:sp>
        <p:nvSpPr>
          <p:cNvPr id="15" name="Личные вещи&#10;в рабочей зоне">
            <a:extLst xmlns:a="http://schemas.openxmlformats.org/drawingml/2006/main">
              <a:ext uri="{FF2B5EF4-FFF2-40B4-BE49-F238E27FC236}">
                <a16:creationId xmlns:a16="http://schemas.microsoft.com/office/drawing/2014/main" id="{0D215E0A-8EE0-4F8F-8D5D-E3547D27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838450"/>
            <a:ext cx="33813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Личные вещи</a:t>
            </a:r>
          </a:p>
          <a:p xmlns:a="http://schemas.openxmlformats.org/drawingml/2006/main">
            <a: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в рабочей зоне</a:t>
            </a:r>
          </a:p>
        </p:txBody>
      </p:sp>
      <p:sp>
        <p:nvSpPr>
          <p:cNvPr id="16" name="Неклассифицированное&#10;нарушение">
            <a:extLst xmlns:a="http://schemas.openxmlformats.org/drawingml/2006/main">
              <a:ext uri="{FF2B5EF4-FFF2-40B4-BE49-F238E27FC236}">
                <a16:creationId xmlns:a16="http://schemas.microsoft.com/office/drawing/2014/main" id="{47625FE9-695F-4DE6-AC44-A7086D94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952875"/>
            <a:ext cx="33813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Неклассифицированное</a:t>
            </a:r>
          </a:p>
          <a:p xmlns:a="http://schemas.openxmlformats.org/drawingml/2006/main">
            <a:pPr algn="l">
              <a:defRPr sz="20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нарушение</a:t>
            </a:r>
          </a:p>
        </p:txBody>
      </p:sp>
      <p:sp>
        <p:nvSpPr>
          <p:cNvPr id="17" name="Один формат результата для всех категорий. Возможное нарушение подтвер">
            <a:extLst xmlns:a="http://schemas.openxmlformats.org/drawingml/2006/main">
              <a:ext uri="{FF2B5EF4-FFF2-40B4-BE49-F238E27FC236}">
                <a16:creationId xmlns:a16="http://schemas.microsoft.com/office/drawing/2014/main" id="{D511F758-B119-48D0-AB63-F1444772E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56873"/>
                </a:solidFill>
                <a:latin typeface="Arial"/>
                <a:ea typeface="Arial"/>
                <a:cs typeface="Arial"/>
              </a:rPr>
              <a:t>Один формат результата для всех категорий. Возможное нарушение подтверждает проверяющий.</a:t>
            </a:r>
          </a:p>
        </p:txBody>
      </p:sp>
    </p:spTree>
    <p:extLst>
      <p:ext uri="{BB962C8B-B14F-4D97-AF65-F5344CB8AC3E}">
        <p14:creationId xmlns:p14="http://schemas.microsoft.com/office/powerpoint/2010/main" val="5411586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4A02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Локальный AI без облачного анализа">
            <a:extLst xmlns:a="http://schemas.openxmlformats.org/drawingml/2006/main">
              <a:ext uri="{FF2B5EF4-FFF2-40B4-BE49-F238E27FC236}">
                <a16:creationId xmlns:a16="http://schemas.microsoft.com/office/drawing/2014/main" id="{C8E45889-2FA5-4EB7-A813-67BD099FB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Локальный AI без облачного анализа</a:t>
            </a:r>
          </a:p>
        </p:txBody>
      </p:sp>
      <p:sp>
        <p:nvSpPr>
          <p:cNvPr id="2" name="06">
            <a:extLst xmlns:a="http://schemas.openxmlformats.org/drawingml/2006/main">
              <a:ext uri="{FF2B5EF4-FFF2-40B4-BE49-F238E27FC236}">
                <a16:creationId xmlns:a16="http://schemas.microsoft.com/office/drawing/2014/main" id="{FAD09B06-B56E-4841-B5D1-F8943063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9A8B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Вычисления&#10;внутри сервиса">
            <a:extLst xmlns:a="http://schemas.openxmlformats.org/drawingml/2006/main">
              <a:ext uri="{FF2B5EF4-FFF2-40B4-BE49-F238E27FC236}">
                <a16:creationId xmlns:a16="http://schemas.microsoft.com/office/drawing/2014/main" id="{EF7A122F-8EB2-4953-BCEC-DACA14FFB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6680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Вычисления</a:t>
            </a:r>
          </a:p>
          <a:p xmlns:a="http://schemas.openxmlformats.org/drawingml/2006/main">
            <a:pPr algn="l">
              <a:defRPr sz="5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внутри сервиса</a:t>
            </a:r>
          </a:p>
        </p:txBody>
      </p:sp>
      <p:sp>
        <p:nvSpPr>
          <p:cNvPr id="4" name="Видео обрабатывает локальная модель.&#10;Передавать запись в облачные AI A">
            <a:extLst xmlns:a="http://schemas.openxmlformats.org/drawingml/2006/main">
              <a:ext uri="{FF2B5EF4-FFF2-40B4-BE49-F238E27FC236}">
                <a16:creationId xmlns:a16="http://schemas.microsoft.com/office/drawing/2014/main" id="{6E5FE4FB-8DD9-4387-87E1-B00574E83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95775"/>
            <a:ext cx="1071562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0E2E9"/>
                </a:solidFill>
                <a:latin typeface="Arial"/>
                <a:ea typeface="Arial"/>
                <a:cs typeface="Arial"/>
              </a:rPr>
              <a:t>Видео обрабатывает локальная модель.</a:t>
            </a:r>
          </a:p>
          <a:p xmlns:a="http://schemas.openxmlformats.org/drawingml/2006/main">
            <a:pPr algn="l">
              <a:defRPr sz="25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0E2E9"/>
                </a:solidFill>
                <a:latin typeface="Arial"/>
                <a:ea typeface="Arial"/>
                <a:cs typeface="Arial"/>
              </a:rPr>
              <a:t>Передавать запись в облачные AI API не требуется.</a:t>
            </a:r>
          </a:p>
        </p:txBody>
      </p:sp>
      <p:sp>
        <p:nvSpPr>
          <p:cNvPr id="5" name="Визуальный анализ без использования звука и распознавания лиц.">
            <a:extLst xmlns:a="http://schemas.openxmlformats.org/drawingml/2006/main">
              <a:ext uri="{FF2B5EF4-FFF2-40B4-BE49-F238E27FC236}">
                <a16:creationId xmlns:a16="http://schemas.microsoft.com/office/drawing/2014/main" id="{C307B64E-F6D4-4B1D-A14E-7EBDEF4F0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DDBFCD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DDBFCD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DDBFCD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DDBFCD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DDBFCD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DDBFCD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DDBFCD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DDBFCD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DDBFCD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DDBFC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DDBFC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DBFCD"/>
                </a:solidFill>
                <a:latin typeface="Arial"/>
                <a:ea typeface="Arial"/>
                <a:cs typeface="Arial"/>
              </a:rPr>
              <a:t>Визуальный анализ без использования звука и распознавания лиц.</a:t>
            </a:r>
          </a:p>
        </p:txBody>
      </p:sp>
    </p:spTree>
    <p:extLst>
      <p:ext uri="{BB962C8B-B14F-4D97-AF65-F5344CB8AC3E}">
        <p14:creationId xmlns:p14="http://schemas.microsoft.com/office/powerpoint/2010/main" val="5887287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Интерфейс для людей. API для интеграции">
            <a:extLst xmlns:a="http://schemas.openxmlformats.org/drawingml/2006/main">
              <a:ext uri="{FF2B5EF4-FFF2-40B4-BE49-F238E27FC236}">
                <a16:creationId xmlns:a16="http://schemas.microsoft.com/office/drawing/2014/main" id="{29559DAD-1493-4593-9550-F2C23E6D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4A0221"/>
                </a:solidFill>
                <a:latin typeface="Arial"/>
                <a:ea typeface="Arial"/>
                <a:cs typeface="Arial"/>
              </a:rPr>
              <a:t>Интерфейс для людей. API для интеграции</a:t>
            </a:r>
          </a:p>
        </p:txBody>
      </p:sp>
      <p:sp>
        <p:nvSpPr>
          <p:cNvPr id="2" name="07">
            <a:extLst xmlns:a="http://schemas.openxmlformats.org/drawingml/2006/main">
              <a:ext uri="{FF2B5EF4-FFF2-40B4-BE49-F238E27FC236}">
                <a16:creationId xmlns:a16="http://schemas.microsoft.com/office/drawing/2014/main" id="{2C2326BB-BDEE-4215-A3DD-4009D26F6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56873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Загрузка видео">
            <a:extLst xmlns:a="http://schemas.openxmlformats.org/drawingml/2006/main">
              <a:ext uri="{FF2B5EF4-FFF2-40B4-BE49-F238E27FC236}">
                <a16:creationId xmlns:a16="http://schemas.microsoft.com/office/drawing/2014/main" id="{4697AA6A-E99B-4559-B933-09F70549D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4667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defPPr>
            <a:lvl1pPr algn="l">
              <a:defRPr sz="277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1pPr>
            <a:lvl2pPr algn="l">
              <a:defRPr sz="277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2pPr>
            <a:lvl3pPr algn="l">
              <a:defRPr sz="277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3pPr>
            <a:lvl4pPr algn="l">
              <a:defRPr sz="277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4pPr>
            <a:lvl5pPr algn="l">
              <a:defRPr sz="277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5pPr>
            <a:lvl6pPr algn="l">
              <a:defRPr sz="277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6pPr>
            <a:lvl7pPr algn="l">
              <a:defRPr sz="277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7pPr>
            <a:lvl8pPr algn="l">
              <a:defRPr sz="277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8pPr>
            <a:lvl9pPr algn="l">
              <a:defRPr sz="277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4A0221"/>
                </a:solidFill>
                <a:latin typeface="Arial"/>
                <a:ea typeface="Arial"/>
                <a:cs typeface="Arial"/>
              </a:rPr>
              <a:t>Загрузка видео</a:t>
            </a:r>
          </a:p>
        </p:txBody>
      </p:sp>
      <p:sp>
        <p:nvSpPr>
          <p:cNvPr id="4" name="POST /api/v1/analyze">
            <a:extLst xmlns:a="http://schemas.openxmlformats.org/drawingml/2006/main">
              <a:ext uri="{FF2B5EF4-FFF2-40B4-BE49-F238E27FC236}">
                <a16:creationId xmlns:a16="http://schemas.microsoft.com/office/drawing/2014/main" id="{F7B5DA9F-EA8C-4555-A90A-163D0436F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A31551"/>
                </a:solidFill>
                <a:latin typeface="Arial"/>
                <a:ea typeface="Arial"/>
                <a:cs typeface="Arial"/>
              </a:rPr>
              <a:t>POST /api/v1/analyze</a:t>
            </a:r>
          </a:p>
        </p:txBody>
      </p:sp>
      <p:sp>
        <p:nvSpPr>
          <p:cNvPr id="5" name="Ответ: идентификатор задачи">
            <a:extLst xmlns:a="http://schemas.openxmlformats.org/drawingml/2006/main">
              <a:ext uri="{FF2B5EF4-FFF2-40B4-BE49-F238E27FC236}">
                <a16:creationId xmlns:a16="http://schemas.microsoft.com/office/drawing/2014/main" id="{1D058E72-16A9-4FC6-89D6-08959D775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Ответ: идентификатор задачи</a:t>
            </a:r>
          </a:p>
        </p:txBody>
      </p:sp>
      <p:sp>
        <p:nvSpPr>
          <p:cNvPr id="6" name="Получение результата">
            <a:extLst xmlns:a="http://schemas.openxmlformats.org/drawingml/2006/main">
              <a:ext uri="{FF2B5EF4-FFF2-40B4-BE49-F238E27FC236}">
                <a16:creationId xmlns:a16="http://schemas.microsoft.com/office/drawing/2014/main" id="{FCF11D9F-1ACD-43C9-94DB-F0E9B43A0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533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defPPr>
            <a:lvl1pPr algn="l">
              <a:defRPr sz="277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1pPr>
            <a:lvl2pPr algn="l">
              <a:defRPr sz="277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2pPr>
            <a:lvl3pPr algn="l">
              <a:defRPr sz="277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3pPr>
            <a:lvl4pPr algn="l">
              <a:defRPr sz="277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4pPr>
            <a:lvl5pPr algn="l">
              <a:defRPr sz="277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5pPr>
            <a:lvl6pPr algn="l">
              <a:defRPr sz="277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6pPr>
            <a:lvl7pPr algn="l">
              <a:defRPr sz="277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7pPr>
            <a:lvl8pPr algn="l">
              <a:defRPr sz="277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8pPr>
            <a:lvl9pPr algn="l">
              <a:defRPr sz="277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4A0221"/>
                </a:solidFill>
                <a:latin typeface="Arial"/>
                <a:ea typeface="Arial"/>
                <a:cs typeface="Arial"/>
              </a:rPr>
              <a:t>Получение результата</a:t>
            </a:r>
          </a:p>
        </p:txBody>
      </p:sp>
      <p:sp>
        <p:nvSpPr>
          <p:cNvPr id="7" name="GET /api/v1/jobs/{job_id}">
            <a:extLst xmlns:a="http://schemas.openxmlformats.org/drawingml/2006/main">
              <a:ext uri="{FF2B5EF4-FFF2-40B4-BE49-F238E27FC236}">
                <a16:creationId xmlns:a16="http://schemas.microsoft.com/office/drawing/2014/main" id="{1A846AD1-E920-441B-B5CB-7B595D8DD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720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A31551"/>
                </a:solidFill>
                <a:latin typeface="Arial"/>
                <a:ea typeface="Arial"/>
                <a:cs typeface="Arial"/>
              </a:rPr>
              <a:t>GET /api/v1/jobs/{job_id}</a:t>
            </a:r>
          </a:p>
        </p:txBody>
      </p:sp>
      <p:sp>
        <p:nvSpPr>
          <p:cNvPr id="8" name="Статус обработки и отчёт JSON. Доступ к API защищает отдельный ключ X-">
            <a:extLst xmlns:a="http://schemas.openxmlformats.org/drawingml/2006/main">
              <a:ext uri="{FF2B5EF4-FFF2-40B4-BE49-F238E27FC236}">
                <a16:creationId xmlns:a16="http://schemas.microsoft.com/office/drawing/2014/main" id="{FE5286C8-F709-45E1-969B-7E2A0EB0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56873"/>
                </a:solidFill>
                <a:latin typeface="Arial"/>
                <a:ea typeface="Arial"/>
                <a:cs typeface="Arial"/>
              </a:rPr>
              <a:t>Статус обработки и отчёт JSON. Доступ к API защищает отдельный ключ X-API-Key.</a:t>
            </a:r>
          </a:p>
        </p:txBody>
      </p:sp>
    </p:spTree>
    <p:extLst>
      <p:ext uri="{BB962C8B-B14F-4D97-AF65-F5344CB8AC3E}">
        <p14:creationId xmlns:p14="http://schemas.microsoft.com/office/powerpoint/2010/main" val="2787902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В основе сервиса R3D-18">
            <a:extLst xmlns:a="http://schemas.openxmlformats.org/drawingml/2006/main">
              <a:ext uri="{FF2B5EF4-FFF2-40B4-BE49-F238E27FC236}">
                <a16:creationId xmlns:a16="http://schemas.microsoft.com/office/drawing/2014/main" id="{4826D076-E5A8-4C20-AE8D-D3D54A88A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4A0221"/>
                </a:solidFill>
                <a:latin typeface="Arial"/>
                <a:ea typeface="Arial"/>
                <a:cs typeface="Arial"/>
              </a:rPr>
              <a:t>В основе сервиса R3D-18</a:t>
            </a:r>
          </a:p>
        </p:txBody>
      </p:sp>
      <p:sp>
        <p:nvSpPr>
          <p:cNvPr id="2" name="08">
            <a:extLst xmlns:a="http://schemas.openxmlformats.org/drawingml/2006/main">
              <a:ext uri="{FF2B5EF4-FFF2-40B4-BE49-F238E27FC236}">
                <a16:creationId xmlns:a16="http://schemas.microsoft.com/office/drawing/2014/main" id="{1C4C1C41-B682-4215-86CA-E094F090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56873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R3D-18">
            <a:extLst xmlns:a="http://schemas.openxmlformats.org/drawingml/2006/main">
              <a:ext uri="{FF2B5EF4-FFF2-40B4-BE49-F238E27FC236}">
                <a16:creationId xmlns:a16="http://schemas.microsoft.com/office/drawing/2014/main" id="{480C7CD6-9569-41C6-B68F-0EB111671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668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80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defPPr>
            <a:lvl1pPr algn="l">
              <a:defRPr sz="780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1pPr>
            <a:lvl2pPr algn="l">
              <a:defRPr sz="780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2pPr>
            <a:lvl3pPr algn="l">
              <a:defRPr sz="780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3pPr>
            <a:lvl4pPr algn="l">
              <a:defRPr sz="780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4pPr>
            <a:lvl5pPr algn="l">
              <a:defRPr sz="780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5pPr>
            <a:lvl6pPr algn="l">
              <a:defRPr sz="780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6pPr>
            <a:lvl7pPr algn="l">
              <a:defRPr sz="780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7pPr>
            <a:lvl8pPr algn="l">
              <a:defRPr sz="780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8pPr>
            <a:lvl9pPr algn="l">
              <a:defRPr sz="780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780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pPr>
            <a:r>
              <a:rPr sz="7800" b="1">
                <a:solidFill>
                  <a:srgbClr val="A31551"/>
                </a:solidFill>
                <a:latin typeface="Arial"/>
                <a:ea typeface="Arial"/>
                <a:cs typeface="Arial"/>
              </a:rPr>
              <a:t>R3D-18</a:t>
            </a:r>
          </a:p>
        </p:txBody>
      </p:sp>
      <p:sp>
        <p:nvSpPr>
          <p:cNvPr id="4" name="Видеопризнаки">
            <a:extLst xmlns:a="http://schemas.openxmlformats.org/drawingml/2006/main">
              <a:ext uri="{FF2B5EF4-FFF2-40B4-BE49-F238E27FC236}">
                <a16:creationId xmlns:a16="http://schemas.microsoft.com/office/drawing/2014/main" id="{5D7BAC00-EB35-4CE5-AEF9-72C78B75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5095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31551"/>
                </a:solidFill>
                <a:latin typeface="Arial"/>
                <a:ea typeface="Arial"/>
                <a:cs typeface="Arial"/>
              </a:rPr>
              <a:t>Видеопризнаки</a:t>
            </a:r>
          </a:p>
        </p:txBody>
      </p:sp>
      <p:sp>
        <p:nvSpPr>
          <p:cNvPr id="5" name="Предобученная модель анализирует последовательности кадров.">
            <a:extLst xmlns:a="http://schemas.openxmlformats.org/drawingml/2006/main">
              <a:ext uri="{FF2B5EF4-FFF2-40B4-BE49-F238E27FC236}">
                <a16:creationId xmlns:a16="http://schemas.microsoft.com/office/drawing/2014/main" id="{4C356963-28E3-45DA-A33D-EBC48A3E2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5095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Предобученная модель анализирует последовательности кадров.</a:t>
            </a:r>
          </a:p>
        </p:txBody>
      </p:sp>
      <p:sp>
        <p:nvSpPr>
          <p:cNvPr id="6" name="Оценка событий">
            <a:extLst xmlns:a="http://schemas.openxmlformats.org/drawingml/2006/main">
              <a:ext uri="{FF2B5EF4-FFF2-40B4-BE49-F238E27FC236}">
                <a16:creationId xmlns:a16="http://schemas.microsoft.com/office/drawing/2014/main" id="{00E2B583-5CA3-41DC-822A-639BB81B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829050"/>
            <a:ext cx="5095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31551"/>
                </a:solidFill>
                <a:latin typeface="Arial"/>
                <a:ea typeface="Arial"/>
                <a:cs typeface="Arial"/>
              </a:rPr>
              <a:t>Оценка событий</a:t>
            </a:r>
          </a:p>
        </p:txBody>
      </p:sp>
      <p:sp>
        <p:nvSpPr>
          <p:cNvPr id="7" name="Классификаторы определяют тип гипотезы и момент срабатывания.">
            <a:extLst xmlns:a="http://schemas.openxmlformats.org/drawingml/2006/main">
              <a:ext uri="{FF2B5EF4-FFF2-40B4-BE49-F238E27FC236}">
                <a16:creationId xmlns:a16="http://schemas.microsoft.com/office/drawing/2014/main" id="{E74B6A76-90B5-4F0F-AE50-4AA1E527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4514850"/>
            <a:ext cx="5095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Классификаторы определяют тип гипотезы и момент срабатывания.</a:t>
            </a:r>
          </a:p>
        </p:txBody>
      </p:sp>
      <p:sp>
        <p:nvSpPr>
          <p:cNvPr id="8" name="Текущая версия: typed_v2. Стек приложения: PyTorch, FastAPI и Streamli">
            <a:extLst xmlns:a="http://schemas.openxmlformats.org/drawingml/2006/main">
              <a:ext uri="{FF2B5EF4-FFF2-40B4-BE49-F238E27FC236}">
                <a16:creationId xmlns:a16="http://schemas.microsoft.com/office/drawing/2014/main" id="{3190DB4F-7779-4EE2-835B-7139CF377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56873"/>
                </a:solidFill>
                <a:latin typeface="Arial"/>
                <a:ea typeface="Arial"/>
                <a:cs typeface="Arial"/>
              </a:rPr>
              <a:t>Текущая версия: typed_v2. Стек приложения: PyTorch, FastAPI и Streamlit.</a:t>
            </a:r>
          </a:p>
        </p:txBody>
      </p:sp>
    </p:spTree>
    <p:extLst>
      <p:ext uri="{BB962C8B-B14F-4D97-AF65-F5344CB8AC3E}">
        <p14:creationId xmlns:p14="http://schemas.microsoft.com/office/powerpoint/2010/main" val="200741283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Управляемый процесс обработки">
            <a:extLst xmlns:a="http://schemas.openxmlformats.org/drawingml/2006/main">
              <a:ext uri="{FF2B5EF4-FFF2-40B4-BE49-F238E27FC236}">
                <a16:creationId xmlns:a16="http://schemas.microsoft.com/office/drawing/2014/main" id="{432E3157-E583-4381-95DA-5FF12FEEC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4A0221"/>
                </a:solidFill>
                <a:latin typeface="Arial"/>
                <a:ea typeface="Arial"/>
                <a:cs typeface="Arial"/>
              </a:rPr>
              <a:t>Управляемый процесс обработки</a:t>
            </a:r>
          </a:p>
        </p:txBody>
      </p:sp>
      <p:sp>
        <p:nvSpPr>
          <p:cNvPr id="2" name="09">
            <a:extLst xmlns:a="http://schemas.openxmlformats.org/drawingml/2006/main">
              <a:ext uri="{FF2B5EF4-FFF2-40B4-BE49-F238E27FC236}">
                <a16:creationId xmlns:a16="http://schemas.microsoft.com/office/drawing/2014/main" id="{E76BA767-7905-4F40-8949-D2F645289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56873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Доступ">
            <a:extLst xmlns:a="http://schemas.openxmlformats.org/drawingml/2006/main">
              <a:ext uri="{FF2B5EF4-FFF2-40B4-BE49-F238E27FC236}">
                <a16:creationId xmlns:a16="http://schemas.microsoft.com/office/drawing/2014/main" id="{4C9E35C9-F1BA-42ED-B91B-730F23573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A31551"/>
                </a:solidFill>
                <a:latin typeface="Arial"/>
                <a:ea typeface="Arial"/>
                <a:cs typeface="Arial"/>
              </a:rPr>
              <a:t>Доступ</a:t>
            </a:r>
          </a:p>
        </p:txBody>
      </p:sp>
      <p:sp>
        <p:nvSpPr>
          <p:cNvPr id="4" name="Логин и пароль для защищённого демо, отдельный ключ для API">
            <a:extLst xmlns:a="http://schemas.openxmlformats.org/drawingml/2006/main">
              <a:ext uri="{FF2B5EF4-FFF2-40B4-BE49-F238E27FC236}">
                <a16:creationId xmlns:a16="http://schemas.microsoft.com/office/drawing/2014/main" id="{9A3028F1-5203-4001-B1C0-997E8071B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1781175"/>
            <a:ext cx="7477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Логин и пароль для защищённого демо, отдельный ключ для API</a:t>
            </a:r>
          </a:p>
        </p:txBody>
      </p:sp>
      <p:sp>
        <p:nvSpPr>
          <p:cNvPr id="5" name="Очередь">
            <a:extLst xmlns:a="http://schemas.openxmlformats.org/drawingml/2006/main">
              <a:ext uri="{FF2B5EF4-FFF2-40B4-BE49-F238E27FC236}">
                <a16:creationId xmlns:a16="http://schemas.microsoft.com/office/drawing/2014/main" id="{20CA7925-B67C-48F9-AE49-EB05D09C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A31551"/>
                </a:solidFill>
                <a:latin typeface="Arial"/>
                <a:ea typeface="Arial"/>
                <a:cs typeface="Arial"/>
              </a:rPr>
              <a:t>Очередь</a:t>
            </a:r>
          </a:p>
        </p:txBody>
      </p:sp>
      <p:sp>
        <p:nvSpPr>
          <p:cNvPr id="6" name="Понятный статус анализа после загрузки записи">
            <a:extLst xmlns:a="http://schemas.openxmlformats.org/drawingml/2006/main">
              <a:ext uri="{FF2B5EF4-FFF2-40B4-BE49-F238E27FC236}">
                <a16:creationId xmlns:a16="http://schemas.microsoft.com/office/drawing/2014/main" id="{9EC7FC1F-4D46-42D6-B88C-F6EC2D00B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857500"/>
            <a:ext cx="7477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Понятный статус анализа после загрузки записи</a:t>
            </a:r>
          </a:p>
        </p:txBody>
      </p:sp>
      <p:sp>
        <p:nvSpPr>
          <p:cNvPr id="7" name="Ошибки">
            <a:extLst xmlns:a="http://schemas.openxmlformats.org/drawingml/2006/main">
              <a:ext uri="{FF2B5EF4-FFF2-40B4-BE49-F238E27FC236}">
                <a16:creationId xmlns:a16="http://schemas.microsoft.com/office/drawing/2014/main" id="{E0CF8F33-B3E1-47E8-9C12-9DD8B52D1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95725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A31551"/>
                </a:solidFill>
                <a:latin typeface="Arial"/>
                <a:ea typeface="Arial"/>
                <a:cs typeface="Arial"/>
              </a:rPr>
              <a:t>Ошибки</a:t>
            </a:r>
          </a:p>
        </p:txBody>
      </p:sp>
      <p:sp>
        <p:nvSpPr>
          <p:cNvPr id="8" name="Сбой обработки имеет отдельный статус failed">
            <a:extLst xmlns:a="http://schemas.openxmlformats.org/drawingml/2006/main">
              <a:ext uri="{FF2B5EF4-FFF2-40B4-BE49-F238E27FC236}">
                <a16:creationId xmlns:a16="http://schemas.microsoft.com/office/drawing/2014/main" id="{4763B46E-E4E8-4834-B870-93FDF0D13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933825"/>
            <a:ext cx="7477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Сбой обработки имеет отдельный статус failed</a:t>
            </a:r>
          </a:p>
        </p:txBody>
      </p:sp>
      <p:sp>
        <p:nvSpPr>
          <p:cNvPr id="9" name="Результат">
            <a:extLst xmlns:a="http://schemas.openxmlformats.org/drawingml/2006/main">
              <a:ext uri="{FF2B5EF4-FFF2-40B4-BE49-F238E27FC236}">
                <a16:creationId xmlns:a16="http://schemas.microsoft.com/office/drawing/2014/main" id="{C259C5FA-8CCE-4D25-ABB6-B782410C3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A3155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A31551"/>
                </a:solidFill>
                <a:latin typeface="Arial"/>
                <a:ea typeface="Arial"/>
                <a:cs typeface="Arial"/>
              </a:rPr>
              <a:t>Результат</a:t>
            </a:r>
          </a:p>
        </p:txBody>
      </p:sp>
      <p:sp>
        <p:nvSpPr>
          <p:cNvPr id="10" name="Проверяемый JSON и реальные кадры исходного видео">
            <a:extLst xmlns:a="http://schemas.openxmlformats.org/drawingml/2006/main">
              <a:ext uri="{FF2B5EF4-FFF2-40B4-BE49-F238E27FC236}">
                <a16:creationId xmlns:a16="http://schemas.microsoft.com/office/drawing/2014/main" id="{0BB514DE-BD7F-451C-9146-23999306C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5010150"/>
            <a:ext cx="7477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Проверяемый JSON и реальные кадры исходного видео</a:t>
            </a:r>
          </a:p>
        </p:txBody>
      </p:sp>
    </p:spTree>
    <p:extLst>
      <p:ext uri="{BB962C8B-B14F-4D97-AF65-F5344CB8AC3E}">
        <p14:creationId xmlns:p14="http://schemas.microsoft.com/office/powerpoint/2010/main" val="203660857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4A02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Что получает команда контроля">
            <a:extLst xmlns:a="http://schemas.openxmlformats.org/drawingml/2006/main">
              <a:ext uri="{FF2B5EF4-FFF2-40B4-BE49-F238E27FC236}">
                <a16:creationId xmlns:a16="http://schemas.microsoft.com/office/drawing/2014/main" id="{E58AA6AB-AD68-4B8D-BF8B-0747FFC5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Что получает команда контроля</a:t>
            </a:r>
          </a:p>
        </p:txBody>
      </p:sp>
      <p:sp>
        <p:nvSpPr>
          <p:cNvPr id="2" name="10">
            <a:extLst xmlns:a="http://schemas.openxmlformats.org/drawingml/2006/main">
              <a:ext uri="{FF2B5EF4-FFF2-40B4-BE49-F238E27FC236}">
                <a16:creationId xmlns:a16="http://schemas.microsoft.com/office/drawing/2014/main" id="{523E0F8D-D4AD-453A-B4D7-9A314887F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9A8B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Материал для решения&#10;в одном отчёте">
            <a:extLst xmlns:a="http://schemas.openxmlformats.org/drawingml/2006/main">
              <a:ext uri="{FF2B5EF4-FFF2-40B4-BE49-F238E27FC236}">
                <a16:creationId xmlns:a16="http://schemas.microsoft.com/office/drawing/2014/main" id="{BFD6E349-85A6-4B6E-9FA4-49AB1A113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8108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4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4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4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4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4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4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4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4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4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Материал для решения</a:t>
            </a:r>
          </a:p>
          <a:p xmlns:a="http://schemas.openxmlformats.org/drawingml/2006/main">
            <a:pPr algn="l">
              <a:defRPr sz="4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в одном отчёте</a:t>
            </a:r>
          </a:p>
        </p:txBody>
      </p:sp>
      <p:sp>
        <p:nvSpPr>
          <p:cNvPr id="4" name="Для проверяющего">
            <a:extLst xmlns:a="http://schemas.openxmlformats.org/drawingml/2006/main">
              <a:ext uri="{FF2B5EF4-FFF2-40B4-BE49-F238E27FC236}">
                <a16:creationId xmlns:a16="http://schemas.microsoft.com/office/drawing/2014/main" id="{D93766FB-CE22-46FF-8679-5553814E1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095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83DCEC"/>
                </a:solidFill>
                <a:latin typeface="Arial"/>
                <a:ea typeface="Arial"/>
                <a:cs typeface="Arial"/>
              </a:rPr>
              <a:t>Для проверяющего</a:t>
            </a:r>
          </a:p>
        </p:txBody>
      </p:sp>
      <p:sp>
        <p:nvSpPr>
          <p:cNvPr id="5" name="Фрагменты с таймкодами и кадрами, к которым можно вернуться.">
            <a:extLst xmlns:a="http://schemas.openxmlformats.org/drawingml/2006/main">
              <a:ext uri="{FF2B5EF4-FFF2-40B4-BE49-F238E27FC236}">
                <a16:creationId xmlns:a16="http://schemas.microsoft.com/office/drawing/2014/main" id="{258351FC-E103-4FA7-A3AE-7CB0C630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5095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0E2E9"/>
                </a:solidFill>
                <a:latin typeface="Arial"/>
                <a:ea typeface="Arial"/>
                <a:cs typeface="Arial"/>
              </a:rPr>
              <a:t>Фрагменты с таймкодами и кадрами, к которым можно вернуться.</a:t>
            </a:r>
          </a:p>
        </p:txBody>
      </p:sp>
      <p:sp>
        <p:nvSpPr>
          <p:cNvPr id="6" name="Для организации">
            <a:extLst xmlns:a="http://schemas.openxmlformats.org/drawingml/2006/main">
              <a:ext uri="{FF2B5EF4-FFF2-40B4-BE49-F238E27FC236}">
                <a16:creationId xmlns:a16="http://schemas.microsoft.com/office/drawing/2014/main" id="{90902898-EF12-4D9F-AE36-C84780215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4114800"/>
            <a:ext cx="5095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83DCEC"/>
                </a:solidFill>
                <a:latin typeface="Arial"/>
                <a:ea typeface="Arial"/>
                <a:cs typeface="Arial"/>
              </a:rPr>
              <a:t>Для организации</a:t>
            </a:r>
          </a:p>
        </p:txBody>
      </p:sp>
      <p:sp>
        <p:nvSpPr>
          <p:cNvPr id="7" name="Единый JSON и локальный сервис, доступный через API.">
            <a:extLst xmlns:a="http://schemas.openxmlformats.org/drawingml/2006/main">
              <a:ext uri="{FF2B5EF4-FFF2-40B4-BE49-F238E27FC236}">
                <a16:creationId xmlns:a16="http://schemas.microsoft.com/office/drawing/2014/main" id="{1392744E-9986-4135-BAA1-E50125B4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4800600"/>
            <a:ext cx="5095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0E2E9"/>
                </a:solidFill>
                <a:latin typeface="Arial"/>
                <a:ea typeface="Arial"/>
                <a:cs typeface="Arial"/>
              </a:rPr>
              <a:t>Единый JSON и локальный сервис, доступный через API.</a:t>
            </a:r>
          </a:p>
        </p:txBody>
      </p:sp>
    </p:spTree>
    <p:extLst>
      <p:ext uri="{BB962C8B-B14F-4D97-AF65-F5344CB8AC3E}">
        <p14:creationId xmlns:p14="http://schemas.microsoft.com/office/powerpoint/2010/main" val="39216820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Рабочая версия для демонстрации">
            <a:extLst xmlns:a="http://schemas.openxmlformats.org/drawingml/2006/main">
              <a:ext uri="{FF2B5EF4-FFF2-40B4-BE49-F238E27FC236}">
                <a16:creationId xmlns:a16="http://schemas.microsoft.com/office/drawing/2014/main" id="{04EDF6D4-9BC7-4A44-8B30-9B55B6BF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4A0221"/>
                </a:solidFill>
                <a:latin typeface="Arial"/>
                <a:ea typeface="Arial"/>
                <a:cs typeface="Arial"/>
              </a:rPr>
              <a:t>Рабочая версия для демонстрации</a:t>
            </a:r>
          </a:p>
        </p:txBody>
      </p:sp>
      <p:sp>
        <p:nvSpPr>
          <p:cNvPr id="2" name="11">
            <a:extLst xmlns:a="http://schemas.openxmlformats.org/drawingml/2006/main">
              <a:ext uri="{FF2B5EF4-FFF2-40B4-BE49-F238E27FC236}">
                <a16:creationId xmlns:a16="http://schemas.microsoft.com/office/drawing/2014/main" id="{B66F65A3-73D0-4FA8-A30C-E79F4B80E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756873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Полный сценарий&#10;проверки видео">
            <a:extLst xmlns:a="http://schemas.openxmlformats.org/drawingml/2006/main">
              <a:ext uri="{FF2B5EF4-FFF2-40B4-BE49-F238E27FC236}">
                <a16:creationId xmlns:a16="http://schemas.microsoft.com/office/drawing/2014/main" id="{CDA0D6AC-68E9-47C8-B08C-62285E007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71437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12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defPPr>
            <a:lvl1pPr algn="l">
              <a:defRPr sz="412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1pPr>
            <a:lvl2pPr algn="l">
              <a:defRPr sz="412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2pPr>
            <a:lvl3pPr algn="l">
              <a:defRPr sz="412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3pPr>
            <a:lvl4pPr algn="l">
              <a:defRPr sz="412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4pPr>
            <a:lvl5pPr algn="l">
              <a:defRPr sz="412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5pPr>
            <a:lvl6pPr algn="l">
              <a:defRPr sz="412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6pPr>
            <a:lvl7pPr algn="l">
              <a:defRPr sz="412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7pPr>
            <a:lvl8pPr algn="l">
              <a:defRPr sz="412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8pPr>
            <a:lvl9pPr algn="l">
              <a:defRPr sz="412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12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4A0221"/>
                </a:solidFill>
                <a:latin typeface="Arial"/>
                <a:ea typeface="Arial"/>
                <a:cs typeface="Arial"/>
              </a:rPr>
              <a:t>Полный сценарий</a:t>
            </a:r>
          </a:p>
          <a:p xmlns:a="http://schemas.openxmlformats.org/drawingml/2006/main">
            <a:pPr algn="l">
              <a:defRPr sz="4125" b="1">
                <a:solidFill>
                  <a:srgbClr val="4A0221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4A0221"/>
                </a:solidFill>
                <a:latin typeface="Arial"/>
                <a:ea typeface="Arial"/>
                <a:cs typeface="Arial"/>
              </a:rPr>
              <a:t>проверки видео</a:t>
            </a:r>
          </a:p>
        </p:txBody>
      </p:sp>
      <p:sp>
        <p:nvSpPr>
          <p:cNvPr id="4" name="Загрузка в браузере&#10;Автоматическое появление отчёта&#10;Скачивание результ">
            <a:extLst xmlns:a="http://schemas.openxmlformats.org/drawingml/2006/main">
              <a:ext uri="{FF2B5EF4-FFF2-40B4-BE49-F238E27FC236}">
                <a16:creationId xmlns:a16="http://schemas.microsoft.com/office/drawing/2014/main" id="{C377BD91-EFC4-4D65-B571-8DC06D70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695325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Загрузка в браузере</a:t>
            </a:r>
          </a:p>
          <a:p xmlns:a="http://schemas.openxmlformats.org/drawingml/2006/main">
            <a: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Автоматическое появление отчёта</a:t>
            </a:r>
          </a:p>
          <a:p xmlns:a="http://schemas.openxmlformats.org/drawingml/2006/main">
            <a:pPr algn="l">
              <a:defRPr sz="2325" b="0">
                <a:solidFill>
                  <a:srgbClr val="2D263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D2630"/>
                </a:solidFill>
                <a:latin typeface="Arial"/>
                <a:ea typeface="Arial"/>
                <a:cs typeface="Arial"/>
              </a:rPr>
              <a:t>Скачивание результата JSON</a:t>
            </a:r>
          </a:p>
        </p:txBody>
      </p:sp>
      <p:sp>
        <p:nvSpPr>
          <p:cNvPr id="5" name="Демонстрационная версия. Качество&#10;на новых записях требует проверки.&#10;Р">
            <a:extLst xmlns:a="http://schemas.openxmlformats.org/drawingml/2006/main">
              <a:ext uri="{FF2B5EF4-FFF2-40B4-BE49-F238E27FC236}">
                <a16:creationId xmlns:a16="http://schemas.microsoft.com/office/drawing/2014/main" id="{417DD283-A6F4-4AE8-9C1E-A297D789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723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56873"/>
                </a:solidFill>
                <a:latin typeface="Arial"/>
                <a:ea typeface="Arial"/>
                <a:cs typeface="Arial"/>
              </a:rPr>
              <a:t>Демонстрационная версия. Качество</a:t>
            </a:r>
          </a:p>
          <a:p xmlns:a="http://schemas.openxmlformats.org/drawingml/2006/main">
            <a:pPr algn="l">
              <a:defRPr sz="1725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56873"/>
                </a:solidFill>
                <a:latin typeface="Arial"/>
                <a:ea typeface="Arial"/>
                <a:cs typeface="Arial"/>
              </a:rPr>
              <a:t>на новых записях требует проверки.</a:t>
            </a:r>
          </a:p>
          <a:p xmlns:a="http://schemas.openxmlformats.org/drawingml/2006/main">
            <a:pPr algn="l">
              <a:defRPr sz="1725" b="0">
                <a:solidFill>
                  <a:srgbClr val="75687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56873"/>
                </a:solidFill>
                <a:latin typeface="Arial"/>
                <a:ea typeface="Arial"/>
                <a:cs typeface="Arial"/>
              </a:rPr>
              <a:t>Решение принимает оператор.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C8D35B-7E6D-4D3B-845C-0D0A98A750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06fcd66f274624"/>
          <a:stretch xmlns:a="http://schemas.openxmlformats.org/drawingml/2006/main"/>
        </p:blipFill>
        <p:spPr>
          <a:xfrm xmlns:a="http://schemas.openxmlformats.org/drawingml/2006/main">
            <a:off x="9197106" y="1466850"/>
            <a:ext cx="1808312" cy="49149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066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4A02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Демонстрация на вашей записи">
            <a:extLst xmlns:a="http://schemas.openxmlformats.org/drawingml/2006/main">
              <a:ext uri="{FF2B5EF4-FFF2-40B4-BE49-F238E27FC236}">
                <a16:creationId xmlns:a16="http://schemas.microsoft.com/office/drawing/2014/main" id="{1265239C-F722-4FF5-BA2C-0253AA6C8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Демонстрация на вашей записи</a:t>
            </a:r>
          </a:p>
        </p:txBody>
      </p:sp>
      <p:sp>
        <p:nvSpPr>
          <p:cNvPr id="2" name="12">
            <a:extLst xmlns:a="http://schemas.openxmlformats.org/drawingml/2006/main">
              <a:ext uri="{FF2B5EF4-FFF2-40B4-BE49-F238E27FC236}">
                <a16:creationId xmlns:a16="http://schemas.microsoft.com/office/drawing/2014/main" id="{AB6B692F-ECCC-499A-B092-F13691833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C9A8B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9A8B7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ForteAI&#10;Cash Control">
            <a:extLst xmlns:a="http://schemas.openxmlformats.org/drawingml/2006/main">
              <a:ext uri="{FF2B5EF4-FFF2-40B4-BE49-F238E27FC236}">
                <a16:creationId xmlns:a16="http://schemas.microsoft.com/office/drawing/2014/main" id="{05AEA4A4-6BB6-4FA7-A22A-969C1F81D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06680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6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6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6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6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6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6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6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6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6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6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ForteAI</a:t>
            </a:r>
          </a:p>
          <a:p xmlns:a="http://schemas.openxmlformats.org/drawingml/2006/main">
            <a:pPr algn="l">
              <a:defRPr sz="6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Cash Control</a:t>
            </a:r>
          </a:p>
        </p:txBody>
      </p:sp>
      <p:sp>
        <p:nvSpPr>
          <p:cNvPr id="4" name="Выберите кассовую запись.&#10;Покажем, как сервис собирает материал для пр">
            <a:extLst xmlns:a="http://schemas.openxmlformats.org/drawingml/2006/main">
              <a:ext uri="{FF2B5EF4-FFF2-40B4-BE49-F238E27FC236}">
                <a16:creationId xmlns:a16="http://schemas.microsoft.com/office/drawing/2014/main" id="{1893653A-D1E5-4319-AB6F-7A8A493BB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43400"/>
            <a:ext cx="10572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0E2E9"/>
                </a:solidFill>
                <a:latin typeface="Arial"/>
                <a:ea typeface="Arial"/>
                <a:cs typeface="Arial"/>
              </a:rPr>
              <a:t>Выберите кассовую запись.</a:t>
            </a:r>
          </a:p>
          <a:p xmlns:a="http://schemas.openxmlformats.org/drawingml/2006/main">
            <a:pPr algn="l">
              <a:defRPr sz="2550" b="0">
                <a:solidFill>
                  <a:srgbClr val="F0E2E9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0E2E9"/>
                </a:solidFill>
                <a:latin typeface="Arial"/>
                <a:ea typeface="Arial"/>
                <a:cs typeface="Arial"/>
              </a:rPr>
              <a:t>Покажем, как сервис собирает материал для проверки.</a:t>
            </a:r>
          </a:p>
        </p:txBody>
      </p:sp>
      <p:sp>
        <p:nvSpPr>
          <p:cNvPr id="5" name="Открыть приложение">
            <a:extLst xmlns:a="http://schemas.openxmlformats.org/drawingml/2006/main">
              <a:ext uri="{FF2B5EF4-FFF2-40B4-BE49-F238E27FC236}">
                <a16:creationId xmlns:a16="http://schemas.microsoft.com/office/drawing/2014/main" id="{CD66EECD-4DBB-4BAC-9E84-00521C514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91200"/>
            <a:ext cx="790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3DCEC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83DCEC"/>
                </a:solidFill>
                <a:latin typeface="Arial"/>
                <a:ea typeface="Arial"/>
                <a:cs typeface="Arial"/>
                <a:hlinkClick xmlns:r="http://schemas.openxmlformats.org/officeDocument/2006/relationships" r:id="R0ffdba1e7ae64be1"/>
              </a:rPr>
              <a:t>Открыть приложение</a:t>
            </a:r>
          </a:p>
        </p:txBody>
      </p:sp>
      <p:sp>
        <p:nvSpPr>
          <p:cNvPr id="6" name="На компьютере с работающим сервисом">
            <a:extLst xmlns:a="http://schemas.openxmlformats.org/drawingml/2006/main">
              <a:ext uri="{FF2B5EF4-FFF2-40B4-BE49-F238E27FC236}">
                <a16:creationId xmlns:a16="http://schemas.microsoft.com/office/drawing/2014/main" id="{5C03EEFA-F910-4D19-9D27-1C0E4354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34125"/>
            <a:ext cx="981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DDBFCD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DDBFCD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DDBFCD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DDBFCD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DDBFCD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DDBFCD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DDBFCD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DDBFCD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DDBFCD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DDBFC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DDBFC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DDBFCD"/>
                </a:solidFill>
                <a:latin typeface="Arial"/>
                <a:ea typeface="Arial"/>
                <a:cs typeface="Arial"/>
              </a:rPr>
              <a:t>На компьютере с работающим сервисом</a:t>
            </a:r>
          </a:p>
        </p:txBody>
      </p:sp>
    </p:spTree>
    <p:extLst>
      <p:ext uri="{BB962C8B-B14F-4D97-AF65-F5344CB8AC3E}">
        <p14:creationId xmlns:p14="http://schemas.microsoft.com/office/powerpoint/2010/main" val="16565423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2026-10-18T05:22:50.5310000Z</dcterms:created>
  <dcterms:modified xsi:type="dcterms:W3CDTF">2026-10-18T05:22:50.5310000Z</dcterms:modified>
</coreProperties>
</file>